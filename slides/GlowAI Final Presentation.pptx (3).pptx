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Arimo Italics" charset="1" panose="020B060402020209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10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12.png" Type="http://schemas.openxmlformats.org/officeDocument/2006/relationships/image"/><Relationship Id="rId5" Target="../media/image13.jpe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jpe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2" Target="../media/image19.png" Type="http://schemas.openxmlformats.org/officeDocument/2006/relationships/image"/><Relationship Id="rId3" Target="../media/image9.png" Type="http://schemas.openxmlformats.org/officeDocument/2006/relationships/image"/><Relationship Id="rId4" Target="../media/image20.jpeg" Type="http://schemas.openxmlformats.org/officeDocument/2006/relationships/image"/><Relationship Id="rId5" Target="../media/image21.pn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9.png" Type="http://schemas.openxmlformats.org/officeDocument/2006/relationships/image"/><Relationship Id="rId6" Target="../media/image30.jpeg" Type="http://schemas.openxmlformats.org/officeDocument/2006/relationships/image"/><Relationship Id="rId7" Target="../media/image3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8003905"/>
            <a:ext cx="16573500" cy="711470"/>
          </a:xfrm>
          <a:custGeom>
            <a:avLst/>
            <a:gdLst/>
            <a:ahLst/>
            <a:cxnLst/>
            <a:rect r="r" b="b" t="t" l="l"/>
            <a:pathLst>
              <a:path h="711470" w="16573500">
                <a:moveTo>
                  <a:pt x="0" y="0"/>
                </a:moveTo>
                <a:lnTo>
                  <a:pt x="16573500" y="0"/>
                </a:lnTo>
                <a:lnTo>
                  <a:pt x="16573500" y="711470"/>
                </a:lnTo>
                <a:lnTo>
                  <a:pt x="0" y="711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4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28049" y="2579329"/>
            <a:ext cx="5431902" cy="184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18"/>
              </a:lnSpc>
            </a:pPr>
            <a:r>
              <a:rPr lang="en-US" b="true" sz="10999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GlowAI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22069" y="4983432"/>
            <a:ext cx="8043862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SKIN CONDITION CLASSIFICATION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FROM SYNTHETIC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8122968"/>
            <a:ext cx="16573500" cy="54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2424">
                <a:solidFill>
                  <a:srgbClr val="AFC1D0"/>
                </a:solidFill>
                <a:latin typeface="Arimo"/>
                <a:ea typeface="Arimo"/>
                <a:cs typeface="Arimo"/>
                <a:sym typeface="Arimo"/>
              </a:rPr>
              <a:t>Submitted by: Lin Schneider, Reut Sasson, Ron Noiman  |  Course: GenAI  |  Year: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11237119" y="1028700"/>
            <a:ext cx="5072062" cy="5072062"/>
          </a:xfrm>
          <a:custGeom>
            <a:avLst/>
            <a:gdLst/>
            <a:ahLst/>
            <a:cxnLst/>
            <a:rect r="r" b="b" t="t" l="l"/>
            <a:pathLst>
              <a:path h="5072062" w="5072062">
                <a:moveTo>
                  <a:pt x="0" y="0"/>
                </a:moveTo>
                <a:lnTo>
                  <a:pt x="5072062" y="0"/>
                </a:lnTo>
                <a:lnTo>
                  <a:pt x="5072062" y="5072062"/>
                </a:lnTo>
                <a:lnTo>
                  <a:pt x="0" y="5072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12632131" y="7184231"/>
            <a:ext cx="2314575" cy="571500"/>
          </a:xfrm>
          <a:custGeom>
            <a:avLst/>
            <a:gdLst/>
            <a:ahLst/>
            <a:cxnLst/>
            <a:rect r="r" b="b" t="t" l="l"/>
            <a:pathLst>
              <a:path h="571500" w="2314575">
                <a:moveTo>
                  <a:pt x="0" y="0"/>
                </a:moveTo>
                <a:lnTo>
                  <a:pt x="2314575" y="0"/>
                </a:lnTo>
                <a:lnTo>
                  <a:pt x="23145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11875671" y="8848725"/>
            <a:ext cx="4143375" cy="1000125"/>
          </a:xfrm>
          <a:custGeom>
            <a:avLst/>
            <a:gdLst/>
            <a:ahLst/>
            <a:cxnLst/>
            <a:rect r="r" b="b" t="t" l="l"/>
            <a:pathLst>
              <a:path h="1000125" w="4143375">
                <a:moveTo>
                  <a:pt x="0" y="0"/>
                </a:moveTo>
                <a:lnTo>
                  <a:pt x="4143375" y="0"/>
                </a:lnTo>
                <a:lnTo>
                  <a:pt x="4143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13558838" y="6298406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4" y="0"/>
                </a:lnTo>
                <a:lnTo>
                  <a:pt x="428624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13575106" y="8053388"/>
            <a:ext cx="428625" cy="571500"/>
          </a:xfrm>
          <a:custGeom>
            <a:avLst/>
            <a:gdLst/>
            <a:ahLst/>
            <a:cxnLst/>
            <a:rect r="r" b="b" t="t" l="l"/>
            <a:pathLst>
              <a:path h="571500" w="428625">
                <a:moveTo>
                  <a:pt x="0" y="0"/>
                </a:moveTo>
                <a:lnTo>
                  <a:pt x="428625" y="0"/>
                </a:lnTo>
                <a:lnTo>
                  <a:pt x="42862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7250" y="857250"/>
            <a:ext cx="17402175" cy="1100100"/>
            <a:chOff x="0" y="0"/>
            <a:chExt cx="23202900" cy="1466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9265" r="0" b="-24719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Definition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3078956"/>
            <a:ext cx="57150" cy="500062"/>
            <a:chOff x="0" y="0"/>
            <a:chExt cx="76200" cy="666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6800850"/>
            <a:ext cx="57150" cy="500062"/>
            <a:chOff x="0" y="0"/>
            <a:chExt cx="76200" cy="666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sp>
        <p:nvSpPr>
          <p:cNvPr name="Freeform 14" id="14" descr="image.png"/>
          <p:cNvSpPr/>
          <p:nvPr/>
        </p:nvSpPr>
        <p:spPr>
          <a:xfrm flipH="false" flipV="false" rot="0">
            <a:off x="1000125" y="392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981075" y="5181600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 descr="image.png"/>
          <p:cNvSpPr/>
          <p:nvPr/>
        </p:nvSpPr>
        <p:spPr>
          <a:xfrm flipH="false" flipV="false" rot="0">
            <a:off x="1000125" y="764381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 descr="image.png"/>
          <p:cNvSpPr/>
          <p:nvPr/>
        </p:nvSpPr>
        <p:spPr>
          <a:xfrm flipH="false" flipV="false" rot="0">
            <a:off x="1000125" y="82724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88403" y="1579726"/>
            <a:ext cx="3802031" cy="3998586"/>
          </a:xfrm>
          <a:custGeom>
            <a:avLst/>
            <a:gdLst/>
            <a:ahLst/>
            <a:cxnLst/>
            <a:rect r="r" b="b" t="t" l="l"/>
            <a:pathLst>
              <a:path h="3998586" w="3802031">
                <a:moveTo>
                  <a:pt x="0" y="0"/>
                </a:moveTo>
                <a:lnTo>
                  <a:pt x="3802031" y="0"/>
                </a:lnTo>
                <a:lnTo>
                  <a:pt x="3802031" y="3998586"/>
                </a:lnTo>
                <a:lnTo>
                  <a:pt x="0" y="39985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4271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442683" y="9186862"/>
            <a:ext cx="23426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"/>
              </a:lnSpc>
            </a:pPr>
            <a:r>
              <a:rPr lang="en-US" b="true" sz="2258">
                <a:solidFill>
                  <a:srgbClr val="0B1320"/>
                </a:solidFill>
                <a:latin typeface="Arimo Bold"/>
                <a:ea typeface="Arimo Bold"/>
                <a:cs typeface="Arimo Bold"/>
                <a:sym typeface="Arimo Bold"/>
              </a:rPr>
              <a:t>-</a:t>
            </a:r>
            <a:r>
              <a:rPr lang="en-US" b="true" sz="2258">
                <a:solidFill>
                  <a:srgbClr val="0B1320"/>
                </a:solidFill>
                <a:latin typeface="Arimo Bold"/>
                <a:ea typeface="Arimo Bold"/>
                <a:cs typeface="Arimo Bold"/>
                <a:sym typeface="Arimo Bold"/>
              </a:rPr>
              <a:t> 72% confidence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1562" y="3059906"/>
            <a:ext cx="315743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Goal &amp; 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1562" y="6781800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Input &amp; 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373022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Goal: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Classify face images into three classes –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acne, erythema, none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4995862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Motivation: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Quick pre-screening from consumer-grade images (selfies), not a medical diagnosis.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741521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Input: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RGB face image (frontal selfie).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8750" y="804386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Output: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Predicted class + confidence score.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858250" y="2161299"/>
            <a:ext cx="8974017" cy="7381284"/>
          </a:xfrm>
          <a:custGeom>
            <a:avLst/>
            <a:gdLst/>
            <a:ahLst/>
            <a:cxnLst/>
            <a:rect r="r" b="b" t="t" l="l"/>
            <a:pathLst>
              <a:path h="7381284" w="8974017">
                <a:moveTo>
                  <a:pt x="0" y="0"/>
                </a:moveTo>
                <a:lnTo>
                  <a:pt x="8974017" y="0"/>
                </a:lnTo>
                <a:lnTo>
                  <a:pt x="8974017" y="7381284"/>
                </a:lnTo>
                <a:lnTo>
                  <a:pt x="0" y="738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250" y="575423"/>
            <a:ext cx="17402175" cy="1100100"/>
            <a:chOff x="0" y="0"/>
            <a:chExt cx="23202900" cy="146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265" r="0" b="-2471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Achievements &amp; Novelty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386012"/>
            <a:ext cx="57150" cy="500062"/>
            <a:chOff x="0" y="0"/>
            <a:chExt cx="76200" cy="666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5549578"/>
            <a:ext cx="57150" cy="500062"/>
            <a:chOff x="0" y="0"/>
            <a:chExt cx="7620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sp>
        <p:nvSpPr>
          <p:cNvPr name="Freeform 10" id="10" descr="image.png"/>
          <p:cNvSpPr/>
          <p:nvPr/>
        </p:nvSpPr>
        <p:spPr>
          <a:xfrm flipH="false" flipV="false" rot="0">
            <a:off x="1000125" y="32289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1000125" y="431482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1000125" y="6298406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000125" y="806291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00125" y="9117806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485549" y="2746348"/>
            <a:ext cx="3788272" cy="6796236"/>
          </a:xfrm>
          <a:custGeom>
            <a:avLst/>
            <a:gdLst/>
            <a:ahLst/>
            <a:cxnLst/>
            <a:rect r="r" b="b" t="t" l="l"/>
            <a:pathLst>
              <a:path h="6796236" w="3788272">
                <a:moveTo>
                  <a:pt x="0" y="0"/>
                </a:moveTo>
                <a:lnTo>
                  <a:pt x="3788272" y="0"/>
                </a:lnTo>
                <a:lnTo>
                  <a:pt x="3788272" y="6796235"/>
                </a:lnTo>
                <a:lnTo>
                  <a:pt x="0" y="679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88171" y="2746348"/>
            <a:ext cx="3788272" cy="6796236"/>
          </a:xfrm>
          <a:custGeom>
            <a:avLst/>
            <a:gdLst/>
            <a:ahLst/>
            <a:cxnLst/>
            <a:rect r="r" b="b" t="t" l="l"/>
            <a:pathLst>
              <a:path h="6796236" w="3788272">
                <a:moveTo>
                  <a:pt x="0" y="0"/>
                </a:moveTo>
                <a:lnTo>
                  <a:pt x="3788272" y="0"/>
                </a:lnTo>
                <a:lnTo>
                  <a:pt x="3788272" y="6796235"/>
                </a:lnTo>
                <a:lnTo>
                  <a:pt x="0" y="67962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1562" y="5474494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Novelty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562" y="2366962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Achievements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16233" y="2098919"/>
            <a:ext cx="7258050" cy="50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2199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Comparison: Clean vs. Synthetic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3000375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Trained a 3-class classifier (EfficientNet-B2) combining real and synthetic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4086225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Built an end-to-end pipeline: generation → training → evaluation → feedback.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8275" y="5425753"/>
            <a:ext cx="7277100" cy="293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6"/>
              </a:lnSpc>
            </a:pPr>
          </a:p>
          <a:p>
            <a:pPr algn="l">
              <a:lnSpc>
                <a:spcPts val="3926"/>
              </a:lnSpc>
            </a:pPr>
            <a:r>
              <a:rPr lang="en-US" b="true" sz="2045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Custom Skin Simulator: </a:t>
            </a:r>
            <a:r>
              <a:rPr lang="en-US" sz="204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A Stable Diffusion–based generative framework for realistic simulation of acne and erythema, enabling fine-grained control over lesion location, spatial spread, and severity intensity.</a:t>
            </a:r>
          </a:p>
          <a:p>
            <a:pPr algn="l">
              <a:lnSpc>
                <a:spcPts val="392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7891462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Synthetic Data Engine: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Solving scarcity of labeled medical data.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8913933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Feedback Loop: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Manual set to guide improvements.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2912" y="478650"/>
            <a:ext cx="17402175" cy="1919250"/>
            <a:chOff x="0" y="0"/>
            <a:chExt cx="23202900" cy="255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2559000"/>
            </a:xfrm>
            <a:custGeom>
              <a:avLst/>
              <a:gdLst/>
              <a:ahLst/>
              <a:cxnLst/>
              <a:rect r="r" b="b" t="t" l="l"/>
              <a:pathLst>
                <a:path h="2559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2559000"/>
                  </a:lnTo>
                  <a:lnTo>
                    <a:pt x="0" y="2559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341" r="0" b="-9900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02900" cy="2587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Synth</a:t>
              </a: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etic Data Generation Using Stable Diffusion</a:t>
              </a:r>
            </a:p>
            <a:p>
              <a:pPr algn="l">
                <a:lnSpc>
                  <a:spcPts val="6480"/>
                </a:lnSpc>
              </a:pPr>
            </a:p>
          </p:txBody>
        </p:sp>
      </p:grpSp>
      <p:sp>
        <p:nvSpPr>
          <p:cNvPr name="Freeform 5" id="5" descr="image.png"/>
          <p:cNvSpPr/>
          <p:nvPr/>
        </p:nvSpPr>
        <p:spPr>
          <a:xfrm flipH="false" flipV="false" rot="0">
            <a:off x="300038" y="4094324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338138" y="467058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image.png"/>
          <p:cNvSpPr/>
          <p:nvPr/>
        </p:nvSpPr>
        <p:spPr>
          <a:xfrm flipH="false" flipV="false" rot="0">
            <a:off x="338138" y="6256499"/>
            <a:ext cx="285750" cy="300037"/>
          </a:xfrm>
          <a:custGeom>
            <a:avLst/>
            <a:gdLst/>
            <a:ahLst/>
            <a:cxnLst/>
            <a:rect r="r" b="b" t="t" l="l"/>
            <a:pathLst>
              <a:path h="300037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 descr="image.png"/>
          <p:cNvSpPr/>
          <p:nvPr/>
        </p:nvSpPr>
        <p:spPr>
          <a:xfrm flipH="false" flipV="false" rot="0">
            <a:off x="300038" y="741378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16151" y="6127016"/>
            <a:ext cx="2643134" cy="3964701"/>
          </a:xfrm>
          <a:custGeom>
            <a:avLst/>
            <a:gdLst/>
            <a:ahLst/>
            <a:cxnLst/>
            <a:rect r="r" b="b" t="t" l="l"/>
            <a:pathLst>
              <a:path h="3964701" w="2643134">
                <a:moveTo>
                  <a:pt x="0" y="0"/>
                </a:moveTo>
                <a:lnTo>
                  <a:pt x="2643134" y="0"/>
                </a:lnTo>
                <a:lnTo>
                  <a:pt x="2643134" y="3964701"/>
                </a:lnTo>
                <a:lnTo>
                  <a:pt x="0" y="396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6171" y="3166892"/>
            <a:ext cx="10444437" cy="503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3"/>
              </a:lnSpc>
              <a:spcBef>
                <a:spcPct val="0"/>
              </a:spcBef>
            </a:pPr>
            <a:r>
              <a:rPr lang="en-US" b="true" sz="2949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Data Generation Process: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Clean facial images were used as base images.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Carefully designed prompts were applied to synthetically add: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    Acne (red inflamed pimples with whiteheads)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    Facial redness (erythema)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The identity, facial structure, and lighting of the original image were preserved to ensure realism and consistency.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For each generated image, a corresponding pixel-level segmentation mask was created, aligned with the synthetic skin conditions.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246438" y="1934732"/>
            <a:ext cx="2776011" cy="3964701"/>
          </a:xfrm>
          <a:custGeom>
            <a:avLst/>
            <a:gdLst/>
            <a:ahLst/>
            <a:cxnLst/>
            <a:rect r="r" b="b" t="t" l="l"/>
            <a:pathLst>
              <a:path h="3964701" w="2776011">
                <a:moveTo>
                  <a:pt x="0" y="0"/>
                </a:moveTo>
                <a:lnTo>
                  <a:pt x="2776011" y="0"/>
                </a:lnTo>
                <a:lnTo>
                  <a:pt x="2776011" y="3964701"/>
                </a:lnTo>
                <a:lnTo>
                  <a:pt x="0" y="39647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027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44484" y="6127016"/>
            <a:ext cx="2643134" cy="3964701"/>
          </a:xfrm>
          <a:custGeom>
            <a:avLst/>
            <a:gdLst/>
            <a:ahLst/>
            <a:cxnLst/>
            <a:rect r="r" b="b" t="t" l="l"/>
            <a:pathLst>
              <a:path h="3964701" w="2643134">
                <a:moveTo>
                  <a:pt x="0" y="0"/>
                </a:moveTo>
                <a:lnTo>
                  <a:pt x="2643134" y="0"/>
                </a:lnTo>
                <a:lnTo>
                  <a:pt x="2643134" y="3964701"/>
                </a:lnTo>
                <a:lnTo>
                  <a:pt x="0" y="3964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1791482"/>
            <a:ext cx="13699758" cy="159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To increase data volume and diversity, we generated synthetic facial images using Stable Diffusion.</a:t>
            </a:r>
          </a:p>
          <a:p>
            <a:pPr algn="ctr">
              <a:lnSpc>
                <a:spcPts val="4320"/>
              </a:lnSpc>
            </a:pPr>
          </a:p>
          <a:p>
            <a:pPr algn="ctr">
              <a:lnSpc>
                <a:spcPts val="432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81012" y="3316911"/>
            <a:ext cx="57150" cy="500062"/>
            <a:chOff x="0" y="0"/>
            <a:chExt cx="76200" cy="666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4057655">
            <a:off x="14728135" y="5259210"/>
            <a:ext cx="1359874" cy="572445"/>
          </a:xfrm>
          <a:custGeom>
            <a:avLst/>
            <a:gdLst/>
            <a:ahLst/>
            <a:cxnLst/>
            <a:rect r="r" b="b" t="t" l="l"/>
            <a:pathLst>
              <a:path h="572445" w="1359874">
                <a:moveTo>
                  <a:pt x="0" y="0"/>
                </a:moveTo>
                <a:lnTo>
                  <a:pt x="1359875" y="0"/>
                </a:lnTo>
                <a:lnTo>
                  <a:pt x="1359875" y="572446"/>
                </a:lnTo>
                <a:lnTo>
                  <a:pt x="0" y="5724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1525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6434471">
            <a:off x="13132789" y="5418621"/>
            <a:ext cx="1359874" cy="572445"/>
          </a:xfrm>
          <a:custGeom>
            <a:avLst/>
            <a:gdLst/>
            <a:ahLst/>
            <a:cxnLst/>
            <a:rect r="r" b="b" t="t" l="l"/>
            <a:pathLst>
              <a:path h="572445" w="1359874">
                <a:moveTo>
                  <a:pt x="0" y="0"/>
                </a:moveTo>
                <a:lnTo>
                  <a:pt x="1359875" y="0"/>
                </a:lnTo>
                <a:lnTo>
                  <a:pt x="1359875" y="572446"/>
                </a:lnTo>
                <a:lnTo>
                  <a:pt x="0" y="5724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1525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2912" y="478650"/>
            <a:ext cx="17402175" cy="1100100"/>
            <a:chOff x="0" y="0"/>
            <a:chExt cx="23202900" cy="146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9265" r="0" b="-2471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Synth</a:t>
              </a: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etic Data Generation – Prompt Examples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5762" y="1859017"/>
            <a:ext cx="57150" cy="500062"/>
            <a:chOff x="0" y="0"/>
            <a:chExt cx="76200" cy="666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28612" y="5811776"/>
            <a:ext cx="57150" cy="500062"/>
            <a:chOff x="0" y="0"/>
            <a:chExt cx="76200" cy="666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805254" y="6061808"/>
            <a:ext cx="3218840" cy="3549375"/>
          </a:xfrm>
          <a:custGeom>
            <a:avLst/>
            <a:gdLst/>
            <a:ahLst/>
            <a:cxnLst/>
            <a:rect r="r" b="b" t="t" l="l"/>
            <a:pathLst>
              <a:path h="3549375" w="3218840">
                <a:moveTo>
                  <a:pt x="0" y="0"/>
                </a:moveTo>
                <a:lnTo>
                  <a:pt x="3218840" y="0"/>
                </a:lnTo>
                <a:lnTo>
                  <a:pt x="3218840" y="3549375"/>
                </a:lnTo>
                <a:lnTo>
                  <a:pt x="0" y="354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778" t="-37710" r="-51624" b="-13779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67858" y="1934644"/>
            <a:ext cx="3391442" cy="3391442"/>
          </a:xfrm>
          <a:custGeom>
            <a:avLst/>
            <a:gdLst/>
            <a:ahLst/>
            <a:cxnLst/>
            <a:rect r="r" b="b" t="t" l="l"/>
            <a:pathLst>
              <a:path h="3391442" w="3391442">
                <a:moveTo>
                  <a:pt x="0" y="0"/>
                </a:moveTo>
                <a:lnTo>
                  <a:pt x="3391442" y="0"/>
                </a:lnTo>
                <a:lnTo>
                  <a:pt x="3391442" y="3391442"/>
                </a:lnTo>
                <a:lnTo>
                  <a:pt x="0" y="3391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416722"/>
            <a:ext cx="10695577" cy="268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Generate a realistic version of the same face with mild to moderate acne vulgaris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 red inflammatory pimples and pustules with visible whiteheads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Target areas: cheeks, forehead, chin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Acne should blend naturally with existing skin texture and lighting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 not alter facial identity, structure, expression, hair, background, or image quality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2390" y="1734619"/>
            <a:ext cx="6151265" cy="59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7"/>
              </a:lnSpc>
              <a:spcBef>
                <a:spcPct val="0"/>
              </a:spcBef>
            </a:pPr>
            <a:r>
              <a:rPr lang="en-US" b="true" sz="264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Prompt Template 1 — Acne Simulation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3815" y="5715954"/>
            <a:ext cx="7828756" cy="59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7"/>
              </a:lnSpc>
              <a:spcBef>
                <a:spcPct val="0"/>
              </a:spcBef>
            </a:pPr>
            <a:r>
              <a:rPr lang="en-US" b="true" sz="264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Prompt Template 2 — Facial Redness (Erythema)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445189"/>
            <a:ext cx="9447028" cy="268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Generate a second version of the same face with realistic facial redness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 diffuse erythema with smooth, uneven gradients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Target areas: cheeks, nose, chin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acne, pimples, or texture changes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Preserve exact identity, pose, lighting, shadows, and background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61867" y="-201181"/>
            <a:ext cx="3564267" cy="1315606"/>
          </a:xfrm>
          <a:custGeom>
            <a:avLst/>
            <a:gdLst/>
            <a:ahLst/>
            <a:cxnLst/>
            <a:rect r="r" b="b" t="t" l="l"/>
            <a:pathLst>
              <a:path h="1315606" w="3564267">
                <a:moveTo>
                  <a:pt x="0" y="0"/>
                </a:moveTo>
                <a:lnTo>
                  <a:pt x="3564266" y="0"/>
                </a:lnTo>
                <a:lnTo>
                  <a:pt x="3564266" y="1315606"/>
                </a:lnTo>
                <a:lnTo>
                  <a:pt x="0" y="131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371730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42086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350079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4517" y="597272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40218" y="1028700"/>
            <a:ext cx="3085136" cy="4105120"/>
          </a:xfrm>
          <a:custGeom>
            <a:avLst/>
            <a:gdLst/>
            <a:ahLst/>
            <a:cxnLst/>
            <a:rect r="r" b="b" t="t" l="l"/>
            <a:pathLst>
              <a:path h="4105120" w="3085136">
                <a:moveTo>
                  <a:pt x="0" y="0"/>
                </a:moveTo>
                <a:lnTo>
                  <a:pt x="3085136" y="0"/>
                </a:lnTo>
                <a:lnTo>
                  <a:pt x="3085136" y="4105120"/>
                </a:lnTo>
                <a:lnTo>
                  <a:pt x="0" y="4105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97075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32943" y="6067979"/>
            <a:ext cx="3092411" cy="4114800"/>
          </a:xfrm>
          <a:custGeom>
            <a:avLst/>
            <a:gdLst/>
            <a:ahLst/>
            <a:cxnLst/>
            <a:rect r="r" b="b" t="t" l="l"/>
            <a:pathLst>
              <a:path h="4114800" w="3092411">
                <a:moveTo>
                  <a:pt x="0" y="0"/>
                </a:moveTo>
                <a:lnTo>
                  <a:pt x="3092411" y="0"/>
                </a:lnTo>
                <a:lnTo>
                  <a:pt x="30924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697075" y="606797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89614" y="1028700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89614" y="6067979"/>
            <a:ext cx="2743200" cy="4114800"/>
          </a:xfrm>
          <a:custGeom>
            <a:avLst/>
            <a:gdLst/>
            <a:ahLst/>
            <a:cxnLst/>
            <a:rect r="r" b="b" t="t" l="l"/>
            <a:pathLst>
              <a:path h="4114800" w="2743200">
                <a:moveTo>
                  <a:pt x="0" y="0"/>
                </a:moveTo>
                <a:lnTo>
                  <a:pt x="2743200" y="0"/>
                </a:lnTo>
                <a:lnTo>
                  <a:pt x="27432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4305054" y="702662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4305069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9797608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6" id="16" descr="image.png"/>
          <p:cNvSpPr/>
          <p:nvPr/>
        </p:nvSpPr>
        <p:spPr>
          <a:xfrm flipH="false" flipV="false" rot="0">
            <a:off x="9797608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3" y="0"/>
                </a:lnTo>
                <a:lnTo>
                  <a:pt x="3527213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7" id="17" descr="image.png"/>
          <p:cNvSpPr/>
          <p:nvPr/>
        </p:nvSpPr>
        <p:spPr>
          <a:xfrm flipH="false" flipV="false" rot="0">
            <a:off x="5115542" y="734851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8"/>
                </a:lnTo>
                <a:lnTo>
                  <a:pt x="0" y="470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8" id="18" descr="image.png"/>
          <p:cNvSpPr/>
          <p:nvPr/>
        </p:nvSpPr>
        <p:spPr>
          <a:xfrm flipH="false" flipV="false" rot="0">
            <a:off x="5115542" y="5584503"/>
            <a:ext cx="3527212" cy="4702497"/>
          </a:xfrm>
          <a:custGeom>
            <a:avLst/>
            <a:gdLst/>
            <a:ahLst/>
            <a:cxnLst/>
            <a:rect r="r" b="b" t="t" l="l"/>
            <a:pathLst>
              <a:path h="4702497" w="3527212">
                <a:moveTo>
                  <a:pt x="0" y="0"/>
                </a:moveTo>
                <a:lnTo>
                  <a:pt x="3527212" y="0"/>
                </a:lnTo>
                <a:lnTo>
                  <a:pt x="3527212" y="4702497"/>
                </a:lnTo>
                <a:lnTo>
                  <a:pt x="0" y="4702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49" t="0" r="-25997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61867" y="4860842"/>
            <a:ext cx="3564267" cy="883288"/>
          </a:xfrm>
          <a:custGeom>
            <a:avLst/>
            <a:gdLst/>
            <a:ahLst/>
            <a:cxnLst/>
            <a:rect r="r" b="b" t="t" l="l"/>
            <a:pathLst>
              <a:path h="883288" w="3564267">
                <a:moveTo>
                  <a:pt x="0" y="0"/>
                </a:moveTo>
                <a:lnTo>
                  <a:pt x="3564266" y="0"/>
                </a:lnTo>
                <a:lnTo>
                  <a:pt x="3564266" y="883287"/>
                </a:lnTo>
                <a:lnTo>
                  <a:pt x="0" y="8832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5804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9572625" y="2271785"/>
            <a:ext cx="8329974" cy="6043540"/>
          </a:xfrm>
          <a:custGeom>
            <a:avLst/>
            <a:gdLst/>
            <a:ahLst/>
            <a:cxnLst/>
            <a:rect r="r" b="b" t="t" l="l"/>
            <a:pathLst>
              <a:path h="6043540" w="8329974">
                <a:moveTo>
                  <a:pt x="0" y="0"/>
                </a:moveTo>
                <a:lnTo>
                  <a:pt x="8329974" y="0"/>
                </a:lnTo>
                <a:lnTo>
                  <a:pt x="8329974" y="6043540"/>
                </a:lnTo>
                <a:lnTo>
                  <a:pt x="0" y="604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96" r="-4392" b="-1252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250" y="638574"/>
            <a:ext cx="17402175" cy="1100100"/>
            <a:chOff x="0" y="0"/>
            <a:chExt cx="23202900" cy="146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265" r="0" b="-24719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Methodology &amp; Pipeline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600325"/>
            <a:ext cx="57150" cy="500062"/>
            <a:chOff x="0" y="0"/>
            <a:chExt cx="76200" cy="666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7072312"/>
            <a:ext cx="57150" cy="500062"/>
            <a:chOff x="0" y="0"/>
            <a:chExt cx="76200" cy="666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sp>
        <p:nvSpPr>
          <p:cNvPr name="Freeform 10" id="10" descr="image.png"/>
          <p:cNvSpPr/>
          <p:nvPr/>
        </p:nvSpPr>
        <p:spPr>
          <a:xfrm flipH="false" flipV="false" rot="0">
            <a:off x="1000125" y="344328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1000125" y="45291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1000125" y="515778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000125" y="5786438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00125" y="79152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1000125" y="854392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28183" y="2569369"/>
            <a:ext cx="8018859" cy="5345906"/>
          </a:xfrm>
          <a:custGeom>
            <a:avLst/>
            <a:gdLst/>
            <a:ahLst/>
            <a:cxnLst/>
            <a:rect r="r" b="b" t="t" l="l"/>
            <a:pathLst>
              <a:path h="5345906" w="8018859">
                <a:moveTo>
                  <a:pt x="0" y="0"/>
                </a:moveTo>
                <a:lnTo>
                  <a:pt x="8018859" y="0"/>
                </a:lnTo>
                <a:lnTo>
                  <a:pt x="8018859" y="5345906"/>
                </a:lnTo>
                <a:lnTo>
                  <a:pt x="0" y="5345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1562" y="25812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Methodology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562" y="7053262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Evaluation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750" y="321468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Data: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3-class dataset (Acne/Erythema/None) mixed with synthetic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4300538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Preprocessing: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Resize 224×224, Normalize (ImageNet).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4929188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Augmentations: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Flip, rotation, color jitter (mimic selfies).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5557838"/>
            <a:ext cx="72866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Training: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EfficientNet-B2, Two-stage fine-tuning, AdamW, Cross-Entropy.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8750" y="7686675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Selected best model by validation accuracy.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8750" y="8315325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Analyzed per-class behavior via confusion matrix.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469125"/>
            <a:ext cx="17402175" cy="1100100"/>
            <a:chOff x="0" y="0"/>
            <a:chExt cx="23202900" cy="146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265" r="0" b="-2471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Results: Validation &amp; Manual Test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250" y="2124075"/>
            <a:ext cx="57150" cy="500062"/>
            <a:chOff x="0" y="0"/>
            <a:chExt cx="76200" cy="666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572625" y="2133600"/>
            <a:ext cx="57150" cy="500062"/>
            <a:chOff x="0" y="0"/>
            <a:chExt cx="76200" cy="666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666750"/>
            </a:xfrm>
            <a:custGeom>
              <a:avLst/>
              <a:gdLst/>
              <a:ahLst/>
              <a:cxnLst/>
              <a:rect r="r" b="b" t="t" l="l"/>
              <a:pathLst>
                <a:path h="666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66675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sp>
        <p:nvSpPr>
          <p:cNvPr name="Freeform 9" id="9" descr="image.png"/>
          <p:cNvSpPr/>
          <p:nvPr/>
        </p:nvSpPr>
        <p:spPr>
          <a:xfrm flipH="false" flipV="false" rot="0">
            <a:off x="971550" y="3002756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 descr="image.png"/>
          <p:cNvSpPr/>
          <p:nvPr/>
        </p:nvSpPr>
        <p:spPr>
          <a:xfrm flipH="false" flipV="false" rot="0">
            <a:off x="990600" y="3679031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9644062" y="2978944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9629775" y="3635784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9629775" y="426919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0545056" y="5132254"/>
            <a:ext cx="6256163" cy="4800600"/>
          </a:xfrm>
          <a:custGeom>
            <a:avLst/>
            <a:gdLst/>
            <a:ahLst/>
            <a:cxnLst/>
            <a:rect r="r" b="b" t="t" l="l"/>
            <a:pathLst>
              <a:path h="4800600" w="6256163">
                <a:moveTo>
                  <a:pt x="0" y="0"/>
                </a:moveTo>
                <a:lnTo>
                  <a:pt x="6256163" y="0"/>
                </a:lnTo>
                <a:lnTo>
                  <a:pt x="6256163" y="4800600"/>
                </a:lnTo>
                <a:lnTo>
                  <a:pt x="0" y="4800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309" r="-4392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16715" y="5437054"/>
            <a:ext cx="5874744" cy="3916496"/>
          </a:xfrm>
          <a:custGeom>
            <a:avLst/>
            <a:gdLst/>
            <a:ahLst/>
            <a:cxnLst/>
            <a:rect r="r" b="b" t="t" l="l"/>
            <a:pathLst>
              <a:path h="3916496" w="5874744">
                <a:moveTo>
                  <a:pt x="0" y="0"/>
                </a:moveTo>
                <a:lnTo>
                  <a:pt x="5874745" y="0"/>
                </a:lnTo>
                <a:lnTo>
                  <a:pt x="5874745" y="3916496"/>
                </a:lnTo>
                <a:lnTo>
                  <a:pt x="0" y="3916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60471" y="4402931"/>
            <a:ext cx="5927884" cy="4939903"/>
          </a:xfrm>
          <a:custGeom>
            <a:avLst/>
            <a:gdLst/>
            <a:ahLst/>
            <a:cxnLst/>
            <a:rect r="r" b="b" t="t" l="l"/>
            <a:pathLst>
              <a:path h="4939903" w="5927884">
                <a:moveTo>
                  <a:pt x="0" y="0"/>
                </a:moveTo>
                <a:lnTo>
                  <a:pt x="5927883" y="0"/>
                </a:lnTo>
                <a:lnTo>
                  <a:pt x="5927883" y="4939903"/>
                </a:lnTo>
                <a:lnTo>
                  <a:pt x="0" y="49399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7250" y="9405938"/>
            <a:ext cx="7858125" cy="4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1874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Confusion Matrix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2625" y="9405938"/>
            <a:ext cx="7858125" cy="4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1874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Training vs Validation 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1562" y="20859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Validation Results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6938" y="2085975"/>
            <a:ext cx="802600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Manual Test (Real Images)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2800350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Best Val Accuracy: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~54%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8750" y="3507581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Main issue: "None" often predicted as "Acne/Erythema".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44125" y="2728912"/>
            <a:ext cx="728662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Acne: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11/15 |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Erythema: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8/9 | </a:t>
            </a: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None: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17/17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34600" y="3445761"/>
            <a:ext cx="728662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Overall Accuracy: ~88%</a:t>
            </a: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on curated real-world set.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44125" y="4080694"/>
            <a:ext cx="7668816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Significantly better performance on clean input than raw validation metrics suggest.</a:t>
            </a:r>
          </a:p>
        </p:txBody>
      </p:sp>
      <p:sp>
        <p:nvSpPr>
          <p:cNvPr name="Freeform 26" id="26" descr="image.png"/>
          <p:cNvSpPr/>
          <p:nvPr/>
        </p:nvSpPr>
        <p:spPr>
          <a:xfrm flipH="false" flipV="false" rot="0">
            <a:off x="1553016" y="4145756"/>
            <a:ext cx="6523744" cy="5747385"/>
          </a:xfrm>
          <a:custGeom>
            <a:avLst/>
            <a:gdLst/>
            <a:ahLst/>
            <a:cxnLst/>
            <a:rect r="r" b="b" t="t" l="l"/>
            <a:pathLst>
              <a:path h="5747385" w="6523744">
                <a:moveTo>
                  <a:pt x="0" y="0"/>
                </a:moveTo>
                <a:lnTo>
                  <a:pt x="6523743" y="0"/>
                </a:lnTo>
                <a:lnTo>
                  <a:pt x="6523743" y="5747385"/>
                </a:lnTo>
                <a:lnTo>
                  <a:pt x="0" y="5747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54" t="-11309" r="-14499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857250" y="2286000"/>
            <a:ext cx="5238598" cy="6086475"/>
          </a:xfrm>
          <a:custGeom>
            <a:avLst/>
            <a:gdLst/>
            <a:ahLst/>
            <a:cxnLst/>
            <a:rect r="r" b="b" t="t" l="l"/>
            <a:pathLst>
              <a:path h="6086475" w="5238598">
                <a:moveTo>
                  <a:pt x="0" y="0"/>
                </a:moveTo>
                <a:lnTo>
                  <a:pt x="5238598" y="0"/>
                </a:lnTo>
                <a:lnTo>
                  <a:pt x="5238598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3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6524473" y="2286000"/>
            <a:ext cx="5238826" cy="6086475"/>
          </a:xfrm>
          <a:custGeom>
            <a:avLst/>
            <a:gdLst/>
            <a:ahLst/>
            <a:cxnLst/>
            <a:rect r="r" b="b" t="t" l="l"/>
            <a:pathLst>
              <a:path h="6086475" w="5238826">
                <a:moveTo>
                  <a:pt x="0" y="0"/>
                </a:moveTo>
                <a:lnTo>
                  <a:pt x="5238826" y="0"/>
                </a:lnTo>
                <a:lnTo>
                  <a:pt x="5238826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2" b="0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12191924" y="2286000"/>
            <a:ext cx="5238598" cy="6086475"/>
          </a:xfrm>
          <a:custGeom>
            <a:avLst/>
            <a:gdLst/>
            <a:ahLst/>
            <a:cxnLst/>
            <a:rect r="r" b="b" t="t" l="l"/>
            <a:pathLst>
              <a:path h="6086475" w="5238598">
                <a:moveTo>
                  <a:pt x="0" y="0"/>
                </a:moveTo>
                <a:lnTo>
                  <a:pt x="5238597" y="0"/>
                </a:lnTo>
                <a:lnTo>
                  <a:pt x="5238597" y="6086475"/>
                </a:lnTo>
                <a:lnTo>
                  <a:pt x="0" y="60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3" b="0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2276399" y="2786062"/>
            <a:ext cx="357188" cy="400050"/>
          </a:xfrm>
          <a:custGeom>
            <a:avLst/>
            <a:gdLst/>
            <a:ahLst/>
            <a:cxnLst/>
            <a:rect r="r" b="b" t="t" l="l"/>
            <a:pathLst>
              <a:path h="400050" w="357188">
                <a:moveTo>
                  <a:pt x="0" y="0"/>
                </a:moveTo>
                <a:lnTo>
                  <a:pt x="357187" y="0"/>
                </a:lnTo>
                <a:lnTo>
                  <a:pt x="357187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000" b="0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7886481" y="2786062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571" b="0"/>
            </a:stretch>
          </a:blipFill>
        </p:spPr>
      </p:sp>
      <p:sp>
        <p:nvSpPr>
          <p:cNvPr name="Freeform 7" id="7" descr="image.png"/>
          <p:cNvSpPr/>
          <p:nvPr/>
        </p:nvSpPr>
        <p:spPr>
          <a:xfrm flipH="false" flipV="false" rot="0">
            <a:off x="13461054" y="2786062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571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57250" y="566775"/>
            <a:ext cx="17402175" cy="1100100"/>
            <a:chOff x="0" y="0"/>
            <a:chExt cx="23202900" cy="146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02900" cy="1466800"/>
            </a:xfrm>
            <a:custGeom>
              <a:avLst/>
              <a:gdLst/>
              <a:ahLst/>
              <a:cxnLst/>
              <a:rect r="r" b="b" t="t" l="l"/>
              <a:pathLst>
                <a:path h="14668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466800"/>
                  </a:lnTo>
                  <a:lnTo>
                    <a:pt x="0" y="1466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9265" r="0" b="-2471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202900" cy="1495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b="true" sz="5400">
                  <a:solidFill>
                    <a:srgbClr val="F3F6F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Conclusion &amp; Future Work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7250" y="8629650"/>
            <a:ext cx="16573500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2250" i="true" strike="noStrike" u="none">
                <a:solidFill>
                  <a:srgbClr val="F3F6FA"/>
                </a:solidFill>
                <a:latin typeface="Arimo Italics"/>
                <a:ea typeface="Arimo Italics"/>
                <a:cs typeface="Arimo Italics"/>
                <a:sym typeface="Arimo Italics"/>
              </a:rPr>
              <a:t>"These improvements could lead to a more accurate and clinically relevant skin analysis system."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6936" y="2709862"/>
            <a:ext cx="197921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29406" y="2721769"/>
            <a:ext cx="191224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4631" y="2709862"/>
            <a:ext cx="4303719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Future 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1662" y="3371850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Built full synthetic+real classifier pipeline.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1662" y="4409037"/>
            <a:ext cx="3781273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Reached </a:t>
            </a:r>
            <a:r>
              <a:rPr lang="en-US" b="true" sz="2025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~54% Val</a:t>
            </a: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/ </a:t>
            </a:r>
            <a:r>
              <a:rPr lang="en-US" b="true" sz="2025">
                <a:solidFill>
                  <a:srgbClr val="F3F6FA"/>
                </a:solidFill>
                <a:latin typeface="Arimo Bold"/>
                <a:ea typeface="Arimo Bold"/>
                <a:cs typeface="Arimo Bold"/>
                <a:sym typeface="Arimo Bold"/>
              </a:rPr>
              <a:t>~88% Real Test</a:t>
            </a: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 accuracy.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1662" y="5446214"/>
            <a:ext cx="3781273" cy="137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Synthetic data is useful but highlights class overlap challenges.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38885" y="3371850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Separating mild conditions is difficult.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38885" y="4409037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Class imbalance impacts robustness.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38885" y="5446214"/>
            <a:ext cx="3781501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Single-label setup is a simplification of reality.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06336" y="3371850"/>
            <a:ext cx="3781273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Expand expert-labeled datasets.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06336" y="3997595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Move to pixel-level segmentation.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06336" y="5034782"/>
            <a:ext cx="3781273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3F6FA"/>
                </a:solidFill>
                <a:latin typeface="Arimo"/>
                <a:ea typeface="Arimo"/>
                <a:cs typeface="Arimo"/>
                <a:sym typeface="Arimo"/>
              </a:rPr>
              <a:t>Use diffusion models for better realism.</a:t>
            </a:r>
          </a:p>
        </p:txBody>
      </p:sp>
      <p:sp>
        <p:nvSpPr>
          <p:cNvPr name="Freeform 24" id="24" descr="image.png"/>
          <p:cNvSpPr/>
          <p:nvPr/>
        </p:nvSpPr>
        <p:spPr>
          <a:xfrm flipH="false" flipV="false" rot="0">
            <a:off x="1443038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 descr="image.png"/>
          <p:cNvSpPr/>
          <p:nvPr/>
        </p:nvSpPr>
        <p:spPr>
          <a:xfrm flipH="false" flipV="false" rot="0">
            <a:off x="1443038" y="460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 descr="image.png"/>
          <p:cNvSpPr/>
          <p:nvPr/>
        </p:nvSpPr>
        <p:spPr>
          <a:xfrm flipH="false" flipV="false" rot="0">
            <a:off x="1443038" y="5646239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 descr="image.png"/>
          <p:cNvSpPr/>
          <p:nvPr/>
        </p:nvSpPr>
        <p:spPr>
          <a:xfrm flipH="false" flipV="false" rot="0">
            <a:off x="7110260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8" id="28" descr="image.png"/>
          <p:cNvSpPr/>
          <p:nvPr/>
        </p:nvSpPr>
        <p:spPr>
          <a:xfrm flipH="false" flipV="false" rot="0">
            <a:off x="7110260" y="4609062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 descr="image.png"/>
          <p:cNvSpPr/>
          <p:nvPr/>
        </p:nvSpPr>
        <p:spPr>
          <a:xfrm flipH="false" flipV="false" rot="0">
            <a:off x="7110260" y="5646239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8"/>
                </a:lnTo>
                <a:lnTo>
                  <a:pt x="0" y="300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0" id="30" descr="image.png"/>
          <p:cNvSpPr/>
          <p:nvPr/>
        </p:nvSpPr>
        <p:spPr>
          <a:xfrm flipH="false" flipV="false" rot="0">
            <a:off x="12777711" y="3571875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1" id="31" descr="image.png"/>
          <p:cNvSpPr/>
          <p:nvPr/>
        </p:nvSpPr>
        <p:spPr>
          <a:xfrm flipH="false" flipV="false" rot="0">
            <a:off x="12777711" y="4197620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2" id="32" descr="image.png"/>
          <p:cNvSpPr/>
          <p:nvPr/>
        </p:nvSpPr>
        <p:spPr>
          <a:xfrm flipH="false" flipV="false" rot="0">
            <a:off x="12777711" y="5234807"/>
            <a:ext cx="285750" cy="300038"/>
          </a:xfrm>
          <a:custGeom>
            <a:avLst/>
            <a:gdLst/>
            <a:ahLst/>
            <a:cxnLst/>
            <a:rect r="r" b="b" t="t" l="l"/>
            <a:pathLst>
              <a:path h="300038" w="285750">
                <a:moveTo>
                  <a:pt x="0" y="0"/>
                </a:moveTo>
                <a:lnTo>
                  <a:pt x="285750" y="0"/>
                </a:lnTo>
                <a:lnTo>
                  <a:pt x="285750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DAG-ymP16vI</dc:identifier>
  <dcterms:modified xsi:type="dcterms:W3CDTF">2011-08-01T06:04:30Z</dcterms:modified>
  <cp:revision>1</cp:revision>
  <dc:title>GlowAI Final Presentation.pptx</dc:title>
</cp:coreProperties>
</file>