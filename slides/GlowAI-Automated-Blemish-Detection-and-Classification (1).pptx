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11607800"/>
  <p:notesSz cx="11430000" cy="11607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149602"/>
            <a:ext cx="9715500" cy="14561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3F3C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883152"/>
            <a:ext cx="8001000" cy="1733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F3C4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F3C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F3C4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F3C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594866"/>
            <a:ext cx="4972050" cy="45765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594866"/>
            <a:ext cx="4972050" cy="45765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F3C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54025"/>
            <a:ext cx="524256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3F3C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1745614"/>
            <a:ext cx="5864225" cy="1882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F3C4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6448806"/>
            <a:ext cx="3657600" cy="34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6448806"/>
            <a:ext cx="2628900" cy="34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6448806"/>
            <a:ext cx="2628900" cy="34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0"/>
            <a:ext cx="4286250" cy="6934200"/>
            <a:chOff x="7143750" y="0"/>
            <a:chExt cx="4286250" cy="6934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6934199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6419849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435229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algn="just" marL="12700" marR="5080">
              <a:lnSpc>
                <a:spcPts val="4200"/>
              </a:lnSpc>
              <a:spcBef>
                <a:spcPts val="50"/>
              </a:spcBef>
            </a:pPr>
            <a:r>
              <a:rPr dirty="0" spc="130"/>
              <a:t>GlowAI</a:t>
            </a:r>
            <a:r>
              <a:rPr dirty="0" spc="65"/>
              <a:t> </a:t>
            </a:r>
            <a:r>
              <a:rPr dirty="0" spc="810"/>
              <a:t>-</a:t>
            </a:r>
            <a:r>
              <a:rPr dirty="0" spc="60"/>
              <a:t> </a:t>
            </a:r>
            <a:r>
              <a:rPr dirty="0" spc="50"/>
              <a:t>AUtom6ted </a:t>
            </a:r>
            <a:r>
              <a:rPr dirty="0" spc="120"/>
              <a:t>BlemiSh</a:t>
            </a:r>
            <a:r>
              <a:rPr dirty="0" spc="80"/>
              <a:t> </a:t>
            </a:r>
            <a:r>
              <a:rPr dirty="0" spc="125"/>
              <a:t>Detection</a:t>
            </a:r>
            <a:r>
              <a:rPr dirty="0" spc="80"/>
              <a:t> </a:t>
            </a:r>
            <a:r>
              <a:rPr dirty="0" spc="45"/>
              <a:t>&amp; </a:t>
            </a:r>
            <a:r>
              <a:rPr dirty="0" spc="70"/>
              <a:t>Cl6SSific6tion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2333625"/>
            <a:ext cx="2886075" cy="2286000"/>
            <a:chOff x="600075" y="2333625"/>
            <a:chExt cx="2886075" cy="2286000"/>
          </a:xfrm>
        </p:grpSpPr>
        <p:sp>
          <p:nvSpPr>
            <p:cNvPr id="7" name="object 7" descr=""/>
            <p:cNvSpPr/>
            <p:nvPr/>
          </p:nvSpPr>
          <p:spPr>
            <a:xfrm>
              <a:off x="604837" y="2338387"/>
              <a:ext cx="2876550" cy="2276475"/>
            </a:xfrm>
            <a:custGeom>
              <a:avLst/>
              <a:gdLst/>
              <a:ahLst/>
              <a:cxnLst/>
              <a:rect l="l" t="t" r="r" b="b"/>
              <a:pathLst>
                <a:path w="2876550" h="2276475">
                  <a:moveTo>
                    <a:pt x="2824937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2221230"/>
                  </a:lnTo>
                  <a:lnTo>
                    <a:pt x="0" y="2224862"/>
                  </a:lnTo>
                  <a:lnTo>
                    <a:pt x="18747" y="2262860"/>
                  </a:lnTo>
                  <a:lnTo>
                    <a:pt x="51619" y="2276475"/>
                  </a:lnTo>
                  <a:lnTo>
                    <a:pt x="2824937" y="2276475"/>
                  </a:lnTo>
                  <a:lnTo>
                    <a:pt x="2862935" y="2257729"/>
                  </a:lnTo>
                  <a:lnTo>
                    <a:pt x="2876550" y="222486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4837" y="2338387"/>
              <a:ext cx="2876550" cy="2276475"/>
            </a:xfrm>
            <a:custGeom>
              <a:avLst/>
              <a:gdLst/>
              <a:ahLst/>
              <a:cxnLst/>
              <a:rect l="l" t="t" r="r" b="b"/>
              <a:pathLst>
                <a:path w="2876550" h="2276475">
                  <a:moveTo>
                    <a:pt x="0" y="2221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37454" y="281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72346" y="34099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221230"/>
                  </a:lnTo>
                  <a:lnTo>
                    <a:pt x="2876550" y="2224862"/>
                  </a:lnTo>
                  <a:lnTo>
                    <a:pt x="2876194" y="2228443"/>
                  </a:lnTo>
                  <a:lnTo>
                    <a:pt x="2875483" y="2231999"/>
                  </a:lnTo>
                  <a:lnTo>
                    <a:pt x="2874784" y="2235568"/>
                  </a:lnTo>
                  <a:lnTo>
                    <a:pt x="2852000" y="2267165"/>
                  </a:lnTo>
                  <a:lnTo>
                    <a:pt x="2832074" y="2275408"/>
                  </a:lnTo>
                  <a:lnTo>
                    <a:pt x="2828518" y="2276119"/>
                  </a:lnTo>
                  <a:lnTo>
                    <a:pt x="2824937" y="2276475"/>
                  </a:lnTo>
                  <a:lnTo>
                    <a:pt x="2821305" y="2276475"/>
                  </a:lnTo>
                  <a:lnTo>
                    <a:pt x="55245" y="2276475"/>
                  </a:lnTo>
                  <a:lnTo>
                    <a:pt x="51619" y="2276475"/>
                  </a:lnTo>
                  <a:lnTo>
                    <a:pt x="48026" y="2276119"/>
                  </a:lnTo>
                  <a:lnTo>
                    <a:pt x="44465" y="2275408"/>
                  </a:lnTo>
                  <a:lnTo>
                    <a:pt x="40907" y="2274709"/>
                  </a:lnTo>
                  <a:lnTo>
                    <a:pt x="9311" y="2251925"/>
                  </a:lnTo>
                  <a:lnTo>
                    <a:pt x="4207" y="2242362"/>
                  </a:lnTo>
                  <a:lnTo>
                    <a:pt x="2818" y="2239022"/>
                  </a:lnTo>
                  <a:lnTo>
                    <a:pt x="1771" y="2235568"/>
                  </a:lnTo>
                  <a:lnTo>
                    <a:pt x="1061" y="2231999"/>
                  </a:lnTo>
                  <a:lnTo>
                    <a:pt x="351" y="2228443"/>
                  </a:lnTo>
                  <a:lnTo>
                    <a:pt x="0" y="2224862"/>
                  </a:lnTo>
                  <a:lnTo>
                    <a:pt x="0" y="2221230"/>
                  </a:lnTo>
                  <a:close/>
                </a:path>
              </a:pathLst>
            </a:custGeom>
            <a:ln w="952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09625" y="3000374"/>
              <a:ext cx="57150" cy="1276350"/>
            </a:xfrm>
            <a:custGeom>
              <a:avLst/>
              <a:gdLst/>
              <a:ahLst/>
              <a:cxnLst/>
              <a:rect l="l" t="t" r="r" b="b"/>
              <a:pathLst>
                <a:path w="57150" h="1276350">
                  <a:moveTo>
                    <a:pt x="57150" y="1243990"/>
                  </a:moveTo>
                  <a:lnTo>
                    <a:pt x="32359" y="1219200"/>
                  </a:lnTo>
                  <a:lnTo>
                    <a:pt x="24777" y="1219200"/>
                  </a:lnTo>
                  <a:lnTo>
                    <a:pt x="0" y="1243990"/>
                  </a:lnTo>
                  <a:lnTo>
                    <a:pt x="0" y="1251559"/>
                  </a:lnTo>
                  <a:lnTo>
                    <a:pt x="24777" y="1276350"/>
                  </a:lnTo>
                  <a:lnTo>
                    <a:pt x="32359" y="1276350"/>
                  </a:lnTo>
                  <a:lnTo>
                    <a:pt x="57150" y="1251559"/>
                  </a:lnTo>
                  <a:lnTo>
                    <a:pt x="57150" y="1247775"/>
                  </a:lnTo>
                  <a:lnTo>
                    <a:pt x="57150" y="1243990"/>
                  </a:lnTo>
                  <a:close/>
                </a:path>
                <a:path w="57150" h="1276350">
                  <a:moveTo>
                    <a:pt x="57150" y="634390"/>
                  </a:moveTo>
                  <a:lnTo>
                    <a:pt x="32359" y="609600"/>
                  </a:lnTo>
                  <a:lnTo>
                    <a:pt x="24777" y="609600"/>
                  </a:lnTo>
                  <a:lnTo>
                    <a:pt x="0" y="634390"/>
                  </a:lnTo>
                  <a:lnTo>
                    <a:pt x="0" y="641959"/>
                  </a:lnTo>
                  <a:lnTo>
                    <a:pt x="24777" y="666750"/>
                  </a:lnTo>
                  <a:lnTo>
                    <a:pt x="32359" y="666750"/>
                  </a:lnTo>
                  <a:lnTo>
                    <a:pt x="57150" y="641959"/>
                  </a:lnTo>
                  <a:lnTo>
                    <a:pt x="57150" y="638175"/>
                  </a:lnTo>
                  <a:lnTo>
                    <a:pt x="57150" y="634390"/>
                  </a:lnTo>
                  <a:close/>
                </a:path>
                <a:path w="57150" h="1276350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3F3C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68136" y="2497137"/>
            <a:ext cx="2546985" cy="18554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5" b="1">
                <a:solidFill>
                  <a:srgbClr val="3F3C4E"/>
                </a:solidFill>
                <a:latin typeface="Cambria"/>
                <a:cs typeface="Cambria"/>
              </a:rPr>
              <a:t>Why</a:t>
            </a:r>
            <a:r>
              <a:rPr dirty="0" sz="1650" spc="8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b="1">
                <a:solidFill>
                  <a:srgbClr val="3F3C4E"/>
                </a:solidFill>
                <a:latin typeface="Cambria"/>
                <a:cs typeface="Cambria"/>
              </a:rPr>
              <a:t>It'S</a:t>
            </a:r>
            <a:r>
              <a:rPr dirty="0" sz="1650" spc="8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3F3C4E"/>
                </a:solidFill>
                <a:latin typeface="Cambria"/>
                <a:cs typeface="Cambria"/>
              </a:rPr>
              <a:t>ImpoTt6nt</a:t>
            </a:r>
            <a:endParaRPr sz="1650">
              <a:latin typeface="Cambria"/>
              <a:cs typeface="Cambria"/>
            </a:endParaRPr>
          </a:p>
          <a:p>
            <a:pPr marL="287020" marR="429895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Skin</a:t>
            </a:r>
            <a:r>
              <a:rPr dirty="0" sz="1350" spc="16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conditions</a:t>
            </a:r>
            <a:r>
              <a:rPr dirty="0" sz="1350" spc="16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appear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similar</a:t>
            </a:r>
            <a:r>
              <a:rPr dirty="0" sz="1350" spc="8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to</a:t>
            </a:r>
            <a:r>
              <a:rPr dirty="0" sz="1350" spc="8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non-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experts</a:t>
            </a:r>
            <a:endParaRPr sz="1350">
              <a:latin typeface="Trebuchet MS"/>
              <a:cs typeface="Trebuchet MS"/>
            </a:endParaRPr>
          </a:p>
          <a:p>
            <a:pPr marL="287020" marR="415925">
              <a:lnSpc>
                <a:spcPct val="134300"/>
              </a:lnSpc>
              <a:spcBef>
                <a:spcPts val="45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Prevents</a:t>
            </a:r>
            <a:r>
              <a:rPr dirty="0" sz="1350" spc="10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incorrect</a:t>
            </a:r>
            <a:r>
              <a:rPr dirty="0" sz="1350" spc="10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self- treatment</a:t>
            </a:r>
            <a:endParaRPr sz="1350">
              <a:latin typeface="Trebuchet MS"/>
              <a:cs typeface="Trebuchet MS"/>
            </a:endParaRPr>
          </a:p>
          <a:p>
            <a:pPr marL="287020">
              <a:lnSpc>
                <a:spcPct val="100000"/>
              </a:lnSpc>
              <a:spcBef>
                <a:spcPts val="1005"/>
              </a:spcBef>
            </a:pP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Facilitates</a:t>
            </a:r>
            <a:r>
              <a:rPr dirty="0" sz="1350" spc="-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early</a:t>
            </a:r>
            <a:r>
              <a:rPr dirty="0" sz="1350" spc="-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intervention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657600" y="2333625"/>
            <a:ext cx="2886075" cy="2286000"/>
            <a:chOff x="3657600" y="2333625"/>
            <a:chExt cx="2886075" cy="2286000"/>
          </a:xfrm>
        </p:grpSpPr>
        <p:sp>
          <p:nvSpPr>
            <p:cNvPr id="12" name="object 12" descr=""/>
            <p:cNvSpPr/>
            <p:nvPr/>
          </p:nvSpPr>
          <p:spPr>
            <a:xfrm>
              <a:off x="3662362" y="2338387"/>
              <a:ext cx="2876550" cy="2276475"/>
            </a:xfrm>
            <a:custGeom>
              <a:avLst/>
              <a:gdLst/>
              <a:ahLst/>
              <a:cxnLst/>
              <a:rect l="l" t="t" r="r" b="b"/>
              <a:pathLst>
                <a:path w="2876550" h="22764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221230"/>
                  </a:lnTo>
                  <a:lnTo>
                    <a:pt x="0" y="2224862"/>
                  </a:lnTo>
                  <a:lnTo>
                    <a:pt x="18745" y="2262860"/>
                  </a:lnTo>
                  <a:lnTo>
                    <a:pt x="51612" y="2276475"/>
                  </a:lnTo>
                  <a:lnTo>
                    <a:pt x="2824937" y="2276475"/>
                  </a:lnTo>
                  <a:lnTo>
                    <a:pt x="2862935" y="2257729"/>
                  </a:lnTo>
                  <a:lnTo>
                    <a:pt x="2876550" y="222486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662362" y="2338387"/>
              <a:ext cx="2876550" cy="2276475"/>
            </a:xfrm>
            <a:custGeom>
              <a:avLst/>
              <a:gdLst/>
              <a:ahLst/>
              <a:cxnLst/>
              <a:rect l="l" t="t" r="r" b="b"/>
              <a:pathLst>
                <a:path w="2876550" h="2276475">
                  <a:moveTo>
                    <a:pt x="0" y="2221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221230"/>
                  </a:lnTo>
                  <a:lnTo>
                    <a:pt x="2876550" y="2224862"/>
                  </a:lnTo>
                  <a:lnTo>
                    <a:pt x="2876194" y="2228443"/>
                  </a:lnTo>
                  <a:lnTo>
                    <a:pt x="2875483" y="2231999"/>
                  </a:lnTo>
                  <a:lnTo>
                    <a:pt x="2874784" y="2235568"/>
                  </a:lnTo>
                  <a:lnTo>
                    <a:pt x="2860370" y="2260295"/>
                  </a:lnTo>
                  <a:lnTo>
                    <a:pt x="2857804" y="2262860"/>
                  </a:lnTo>
                  <a:lnTo>
                    <a:pt x="2832074" y="2275408"/>
                  </a:lnTo>
                  <a:lnTo>
                    <a:pt x="2828518" y="2276119"/>
                  </a:lnTo>
                  <a:lnTo>
                    <a:pt x="2824937" y="2276475"/>
                  </a:lnTo>
                  <a:lnTo>
                    <a:pt x="2821305" y="2276475"/>
                  </a:lnTo>
                  <a:lnTo>
                    <a:pt x="55245" y="2276475"/>
                  </a:lnTo>
                  <a:lnTo>
                    <a:pt x="51612" y="2276475"/>
                  </a:lnTo>
                  <a:lnTo>
                    <a:pt x="48018" y="2276119"/>
                  </a:lnTo>
                  <a:lnTo>
                    <a:pt x="44462" y="2275408"/>
                  </a:lnTo>
                  <a:lnTo>
                    <a:pt x="40906" y="2274709"/>
                  </a:lnTo>
                  <a:lnTo>
                    <a:pt x="9309" y="2251925"/>
                  </a:lnTo>
                  <a:lnTo>
                    <a:pt x="4203" y="2242362"/>
                  </a:lnTo>
                  <a:lnTo>
                    <a:pt x="2819" y="2239022"/>
                  </a:lnTo>
                  <a:lnTo>
                    <a:pt x="1765" y="2235568"/>
                  </a:lnTo>
                  <a:lnTo>
                    <a:pt x="1066" y="2231999"/>
                  </a:lnTo>
                  <a:lnTo>
                    <a:pt x="355" y="2228443"/>
                  </a:lnTo>
                  <a:lnTo>
                    <a:pt x="0" y="2224862"/>
                  </a:lnTo>
                  <a:lnTo>
                    <a:pt x="0" y="2221230"/>
                  </a:lnTo>
                  <a:close/>
                </a:path>
              </a:pathLst>
            </a:custGeom>
            <a:ln w="952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67150" y="3000374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57150" y="1301140"/>
                  </a:moveTo>
                  <a:lnTo>
                    <a:pt x="32359" y="1276350"/>
                  </a:lnTo>
                  <a:lnTo>
                    <a:pt x="24790" y="1276350"/>
                  </a:lnTo>
                  <a:lnTo>
                    <a:pt x="0" y="1301140"/>
                  </a:lnTo>
                  <a:lnTo>
                    <a:pt x="0" y="1308709"/>
                  </a:lnTo>
                  <a:lnTo>
                    <a:pt x="24790" y="1333500"/>
                  </a:lnTo>
                  <a:lnTo>
                    <a:pt x="32359" y="1333500"/>
                  </a:lnTo>
                  <a:lnTo>
                    <a:pt x="57150" y="1308709"/>
                  </a:lnTo>
                  <a:lnTo>
                    <a:pt x="57150" y="1304925"/>
                  </a:lnTo>
                  <a:lnTo>
                    <a:pt x="57150" y="1301140"/>
                  </a:lnTo>
                  <a:close/>
                </a:path>
                <a:path w="57150" h="1333500">
                  <a:moveTo>
                    <a:pt x="57150" y="967765"/>
                  </a:moveTo>
                  <a:lnTo>
                    <a:pt x="32359" y="942975"/>
                  </a:lnTo>
                  <a:lnTo>
                    <a:pt x="24790" y="942975"/>
                  </a:lnTo>
                  <a:lnTo>
                    <a:pt x="0" y="967765"/>
                  </a:lnTo>
                  <a:lnTo>
                    <a:pt x="0" y="975334"/>
                  </a:lnTo>
                  <a:lnTo>
                    <a:pt x="24790" y="1000125"/>
                  </a:lnTo>
                  <a:lnTo>
                    <a:pt x="32359" y="1000125"/>
                  </a:lnTo>
                  <a:lnTo>
                    <a:pt x="57150" y="975334"/>
                  </a:lnTo>
                  <a:lnTo>
                    <a:pt x="57150" y="971550"/>
                  </a:lnTo>
                  <a:lnTo>
                    <a:pt x="57150" y="967765"/>
                  </a:lnTo>
                  <a:close/>
                </a:path>
                <a:path w="57150" h="1333500">
                  <a:moveTo>
                    <a:pt x="57150" y="634390"/>
                  </a:moveTo>
                  <a:lnTo>
                    <a:pt x="32359" y="609600"/>
                  </a:lnTo>
                  <a:lnTo>
                    <a:pt x="24790" y="609600"/>
                  </a:lnTo>
                  <a:lnTo>
                    <a:pt x="0" y="634390"/>
                  </a:lnTo>
                  <a:lnTo>
                    <a:pt x="0" y="641959"/>
                  </a:lnTo>
                  <a:lnTo>
                    <a:pt x="24790" y="666750"/>
                  </a:lnTo>
                  <a:lnTo>
                    <a:pt x="32359" y="666750"/>
                  </a:lnTo>
                  <a:lnTo>
                    <a:pt x="57150" y="641959"/>
                  </a:lnTo>
                  <a:lnTo>
                    <a:pt x="57150" y="638175"/>
                  </a:lnTo>
                  <a:lnTo>
                    <a:pt x="57150" y="634390"/>
                  </a:lnTo>
                  <a:close/>
                </a:path>
                <a:path w="57150" h="1333500">
                  <a:moveTo>
                    <a:pt x="57150" y="24790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3F3C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825659" y="2497137"/>
            <a:ext cx="2501265" cy="1912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5" b="1">
                <a:solidFill>
                  <a:srgbClr val="3F3C4E"/>
                </a:solidFill>
                <a:latin typeface="Cambria"/>
                <a:cs typeface="Cambria"/>
              </a:rPr>
              <a:t>Why</a:t>
            </a:r>
            <a:r>
              <a:rPr dirty="0" sz="1650" spc="8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b="1">
                <a:solidFill>
                  <a:srgbClr val="3F3C4E"/>
                </a:solidFill>
                <a:latin typeface="Cambria"/>
                <a:cs typeface="Cambria"/>
              </a:rPr>
              <a:t>It'S</a:t>
            </a:r>
            <a:r>
              <a:rPr dirty="0" sz="1650" spc="8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F3C4E"/>
                </a:solidFill>
                <a:latin typeface="Cambria"/>
                <a:cs typeface="Cambria"/>
              </a:rPr>
              <a:t>Ch6llenging</a:t>
            </a:r>
            <a:endParaRPr sz="1650">
              <a:latin typeface="Cambria"/>
              <a:cs typeface="Cambria"/>
            </a:endParaRPr>
          </a:p>
          <a:p>
            <a:pPr marL="287020" marR="278765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Subtle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color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and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texture differences</a:t>
            </a:r>
            <a:endParaRPr sz="1350">
              <a:latin typeface="Trebuchet MS"/>
              <a:cs typeface="Trebuchet MS"/>
            </a:endParaRPr>
          </a:p>
          <a:p>
            <a:pPr marL="287020" marR="12700">
              <a:lnSpc>
                <a:spcPct val="162000"/>
              </a:lnSpc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Variable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lighting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and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 angles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Skin</a:t>
            </a:r>
            <a:r>
              <a:rPr dirty="0" sz="1350" spc="7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tone</a:t>
            </a:r>
            <a:r>
              <a:rPr dirty="0" sz="1350" spc="7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diversity</a:t>
            </a:r>
            <a:endParaRPr sz="1350">
              <a:latin typeface="Trebuchet MS"/>
              <a:cs typeface="Trebuchet MS"/>
            </a:endParaRPr>
          </a:p>
          <a:p>
            <a:pPr marL="287020">
              <a:lnSpc>
                <a:spcPct val="100000"/>
              </a:lnSpc>
              <a:spcBef>
                <a:spcPts val="1005"/>
              </a:spcBef>
            </a:pP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Multiple</a:t>
            </a:r>
            <a:r>
              <a:rPr dirty="0" sz="1350" spc="9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blemishes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per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face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0075" y="4791075"/>
            <a:ext cx="5943600" cy="1676400"/>
            <a:chOff x="600075" y="4791075"/>
            <a:chExt cx="5943600" cy="1676400"/>
          </a:xfrm>
        </p:grpSpPr>
        <p:sp>
          <p:nvSpPr>
            <p:cNvPr id="17" name="object 17" descr=""/>
            <p:cNvSpPr/>
            <p:nvPr/>
          </p:nvSpPr>
          <p:spPr>
            <a:xfrm>
              <a:off x="604837" y="4795837"/>
              <a:ext cx="5934075" cy="1666875"/>
            </a:xfrm>
            <a:custGeom>
              <a:avLst/>
              <a:gdLst/>
              <a:ahLst/>
              <a:cxnLst/>
              <a:rect l="l" t="t" r="r" b="b"/>
              <a:pathLst>
                <a:path w="5934075" h="1666875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611630"/>
                  </a:lnTo>
                  <a:lnTo>
                    <a:pt x="0" y="1615255"/>
                  </a:lnTo>
                  <a:lnTo>
                    <a:pt x="18747" y="1653256"/>
                  </a:lnTo>
                  <a:lnTo>
                    <a:pt x="51619" y="1666875"/>
                  </a:lnTo>
                  <a:lnTo>
                    <a:pt x="5882462" y="1666875"/>
                  </a:lnTo>
                  <a:lnTo>
                    <a:pt x="5920460" y="1648127"/>
                  </a:lnTo>
                  <a:lnTo>
                    <a:pt x="5934075" y="1615255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4837" y="4795837"/>
              <a:ext cx="5934075" cy="1666875"/>
            </a:xfrm>
            <a:custGeom>
              <a:avLst/>
              <a:gdLst/>
              <a:ahLst/>
              <a:cxnLst/>
              <a:rect l="l" t="t" r="r" b="b"/>
              <a:pathLst>
                <a:path w="5934075" h="1666875">
                  <a:moveTo>
                    <a:pt x="0" y="16116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611630"/>
                  </a:lnTo>
                  <a:lnTo>
                    <a:pt x="5934075" y="1615255"/>
                  </a:lnTo>
                  <a:lnTo>
                    <a:pt x="5933719" y="1618848"/>
                  </a:lnTo>
                  <a:lnTo>
                    <a:pt x="5933008" y="1622404"/>
                  </a:lnTo>
                  <a:lnTo>
                    <a:pt x="5932309" y="1625961"/>
                  </a:lnTo>
                  <a:lnTo>
                    <a:pt x="5909525" y="1657563"/>
                  </a:lnTo>
                  <a:lnTo>
                    <a:pt x="5899962" y="1662667"/>
                  </a:lnTo>
                  <a:lnTo>
                    <a:pt x="5896622" y="1664056"/>
                  </a:lnTo>
                  <a:lnTo>
                    <a:pt x="5893168" y="1665103"/>
                  </a:lnTo>
                  <a:lnTo>
                    <a:pt x="5889599" y="1665813"/>
                  </a:lnTo>
                  <a:lnTo>
                    <a:pt x="5886043" y="1666518"/>
                  </a:lnTo>
                  <a:lnTo>
                    <a:pt x="5882462" y="1666875"/>
                  </a:lnTo>
                  <a:lnTo>
                    <a:pt x="5878830" y="1666875"/>
                  </a:lnTo>
                  <a:lnTo>
                    <a:pt x="55245" y="1666875"/>
                  </a:lnTo>
                  <a:lnTo>
                    <a:pt x="51619" y="1666875"/>
                  </a:lnTo>
                  <a:lnTo>
                    <a:pt x="48026" y="1666518"/>
                  </a:lnTo>
                  <a:lnTo>
                    <a:pt x="24551" y="1657563"/>
                  </a:lnTo>
                  <a:lnTo>
                    <a:pt x="21535" y="1655549"/>
                  </a:lnTo>
                  <a:lnTo>
                    <a:pt x="9311" y="1642323"/>
                  </a:lnTo>
                  <a:lnTo>
                    <a:pt x="7292" y="1639307"/>
                  </a:lnTo>
                  <a:lnTo>
                    <a:pt x="5590" y="1636121"/>
                  </a:lnTo>
                  <a:lnTo>
                    <a:pt x="4207" y="1632769"/>
                  </a:lnTo>
                  <a:lnTo>
                    <a:pt x="2818" y="1629420"/>
                  </a:lnTo>
                  <a:lnTo>
                    <a:pt x="1771" y="1625961"/>
                  </a:lnTo>
                  <a:lnTo>
                    <a:pt x="1061" y="1622404"/>
                  </a:lnTo>
                  <a:lnTo>
                    <a:pt x="351" y="1618848"/>
                  </a:lnTo>
                  <a:lnTo>
                    <a:pt x="0" y="1615255"/>
                  </a:lnTo>
                  <a:lnTo>
                    <a:pt x="0" y="1611630"/>
                  </a:lnTo>
                  <a:close/>
                </a:path>
              </a:pathLst>
            </a:custGeom>
            <a:ln w="952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9625" y="5457824"/>
              <a:ext cx="57150" cy="723900"/>
            </a:xfrm>
            <a:custGeom>
              <a:avLst/>
              <a:gdLst/>
              <a:ahLst/>
              <a:cxnLst/>
              <a:rect l="l" t="t" r="r" b="b"/>
              <a:pathLst>
                <a:path w="57150" h="723900">
                  <a:moveTo>
                    <a:pt x="57150" y="691540"/>
                  </a:moveTo>
                  <a:lnTo>
                    <a:pt x="32359" y="666750"/>
                  </a:lnTo>
                  <a:lnTo>
                    <a:pt x="24777" y="666750"/>
                  </a:lnTo>
                  <a:lnTo>
                    <a:pt x="0" y="691540"/>
                  </a:lnTo>
                  <a:lnTo>
                    <a:pt x="0" y="699122"/>
                  </a:lnTo>
                  <a:lnTo>
                    <a:pt x="24777" y="723900"/>
                  </a:lnTo>
                  <a:lnTo>
                    <a:pt x="32359" y="723900"/>
                  </a:lnTo>
                  <a:lnTo>
                    <a:pt x="57150" y="699122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723900">
                  <a:moveTo>
                    <a:pt x="57150" y="358165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65"/>
                  </a:lnTo>
                  <a:lnTo>
                    <a:pt x="0" y="365747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47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723900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3F3C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68350" y="4954587"/>
            <a:ext cx="4083050" cy="1303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3F3C4E"/>
                </a:solidFill>
                <a:latin typeface="Cambria"/>
                <a:cs typeface="Cambria"/>
              </a:rPr>
              <a:t>CUTTent</a:t>
            </a:r>
            <a:r>
              <a:rPr dirty="0" sz="1650" spc="-4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50" b="1">
                <a:solidFill>
                  <a:srgbClr val="3F3C4E"/>
                </a:solidFill>
                <a:latin typeface="Cambria"/>
                <a:cs typeface="Cambria"/>
              </a:rPr>
              <a:t>SolUtionS</a:t>
            </a:r>
            <a:endParaRPr sz="1650">
              <a:latin typeface="Cambria"/>
              <a:cs typeface="Cambria"/>
            </a:endParaRPr>
          </a:p>
          <a:p>
            <a:pPr marL="286385" marR="1106170">
              <a:lnSpc>
                <a:spcPct val="162000"/>
              </a:lnSpc>
              <a:spcBef>
                <a:spcPts val="165"/>
              </a:spcBef>
            </a:pP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Manual</a:t>
            </a:r>
            <a:r>
              <a:rPr dirty="0" sz="1350" spc="8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dermatology</a:t>
            </a:r>
            <a:r>
              <a:rPr dirty="0" sz="1350" spc="8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inspection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Low-accuracy</a:t>
            </a:r>
            <a:r>
              <a:rPr dirty="0" sz="1350" spc="10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mobile</a:t>
            </a:r>
            <a:r>
              <a:rPr dirty="0" sz="1350" spc="10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applications</a:t>
            </a:r>
            <a:endParaRPr sz="13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 spc="114">
                <a:solidFill>
                  <a:srgbClr val="3F3C4E"/>
                </a:solidFill>
                <a:latin typeface="Trebuchet MS"/>
                <a:cs typeface="Trebuchet MS"/>
              </a:rPr>
              <a:t>No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reliable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30">
                <a:solidFill>
                  <a:srgbClr val="3F3C4E"/>
                </a:solidFill>
                <a:latin typeface="Trebuchet MS"/>
                <a:cs typeface="Trebuchet MS"/>
              </a:rPr>
              <a:t>ML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for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segmentation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+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classification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0"/>
            <a:ext cx="4286250" cy="11162030"/>
            <a:chOff x="7143750" y="0"/>
            <a:chExt cx="4286250" cy="111620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11161776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10647426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PToject</a:t>
            </a:r>
            <a:r>
              <a:rPr dirty="0" spc="65"/>
              <a:t> </a:t>
            </a:r>
            <a:r>
              <a:rPr dirty="0" spc="60"/>
              <a:t>T6Sk</a:t>
            </a:r>
            <a:r>
              <a:rPr dirty="0" spc="75"/>
              <a:t> </a:t>
            </a:r>
            <a:r>
              <a:rPr dirty="0" spc="40"/>
              <a:t>DeScTiption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1733550"/>
            <a:ext cx="5943600" cy="3352800"/>
            <a:chOff x="600075" y="1733550"/>
            <a:chExt cx="5943600" cy="3352800"/>
          </a:xfrm>
        </p:grpSpPr>
        <p:sp>
          <p:nvSpPr>
            <p:cNvPr id="7" name="object 7" descr=""/>
            <p:cNvSpPr/>
            <p:nvPr/>
          </p:nvSpPr>
          <p:spPr>
            <a:xfrm>
              <a:off x="609600" y="1743075"/>
              <a:ext cx="5924550" cy="3333750"/>
            </a:xfrm>
            <a:custGeom>
              <a:avLst/>
              <a:gdLst/>
              <a:ahLst/>
              <a:cxnLst/>
              <a:rect l="l" t="t" r="r" b="b"/>
              <a:pathLst>
                <a:path w="5924550" h="3333750">
                  <a:moveTo>
                    <a:pt x="0" y="32832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78"/>
                  </a:lnTo>
                  <a:lnTo>
                    <a:pt x="972" y="40640"/>
                  </a:lnTo>
                  <a:lnTo>
                    <a:pt x="1616" y="37388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105"/>
                  </a:lnTo>
                  <a:lnTo>
                    <a:pt x="6667" y="25196"/>
                  </a:lnTo>
                  <a:lnTo>
                    <a:pt x="8507" y="22440"/>
                  </a:lnTo>
                  <a:lnTo>
                    <a:pt x="10347" y="19685"/>
                  </a:lnTo>
                  <a:lnTo>
                    <a:pt x="12442" y="17132"/>
                  </a:lnTo>
                  <a:lnTo>
                    <a:pt x="31164" y="3848"/>
                  </a:lnTo>
                  <a:lnTo>
                    <a:pt x="34225" y="2578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17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890323" y="2578"/>
                  </a:lnTo>
                  <a:lnTo>
                    <a:pt x="5893384" y="3848"/>
                  </a:lnTo>
                  <a:lnTo>
                    <a:pt x="5896444" y="5105"/>
                  </a:lnTo>
                  <a:lnTo>
                    <a:pt x="5899353" y="6667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88"/>
                  </a:lnTo>
                  <a:lnTo>
                    <a:pt x="5923572" y="40640"/>
                  </a:lnTo>
                  <a:lnTo>
                    <a:pt x="5924232" y="43878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3283267"/>
                  </a:lnTo>
                  <a:lnTo>
                    <a:pt x="5924550" y="3286582"/>
                  </a:lnTo>
                  <a:lnTo>
                    <a:pt x="5924232" y="3289858"/>
                  </a:lnTo>
                  <a:lnTo>
                    <a:pt x="5923572" y="3293110"/>
                  </a:lnTo>
                  <a:lnTo>
                    <a:pt x="5922937" y="3296373"/>
                  </a:lnTo>
                  <a:lnTo>
                    <a:pt x="5921971" y="3299523"/>
                  </a:lnTo>
                  <a:lnTo>
                    <a:pt x="5920701" y="3302584"/>
                  </a:lnTo>
                  <a:lnTo>
                    <a:pt x="5919444" y="3305644"/>
                  </a:lnTo>
                  <a:lnTo>
                    <a:pt x="5902109" y="3325241"/>
                  </a:lnTo>
                  <a:lnTo>
                    <a:pt x="5899353" y="3327082"/>
                  </a:lnTo>
                  <a:lnTo>
                    <a:pt x="5896444" y="3328644"/>
                  </a:lnTo>
                  <a:lnTo>
                    <a:pt x="5893384" y="3329901"/>
                  </a:lnTo>
                  <a:lnTo>
                    <a:pt x="5890323" y="3331171"/>
                  </a:lnTo>
                  <a:lnTo>
                    <a:pt x="5887161" y="3332137"/>
                  </a:lnTo>
                  <a:lnTo>
                    <a:pt x="5883910" y="3332784"/>
                  </a:lnTo>
                  <a:lnTo>
                    <a:pt x="5880671" y="3333432"/>
                  </a:lnTo>
                  <a:lnTo>
                    <a:pt x="5877382" y="3333750"/>
                  </a:lnTo>
                  <a:lnTo>
                    <a:pt x="5874067" y="3333750"/>
                  </a:lnTo>
                  <a:lnTo>
                    <a:pt x="50482" y="3333750"/>
                  </a:lnTo>
                  <a:lnTo>
                    <a:pt x="47169" y="3333750"/>
                  </a:lnTo>
                  <a:lnTo>
                    <a:pt x="43884" y="3333432"/>
                  </a:lnTo>
                  <a:lnTo>
                    <a:pt x="40634" y="3332784"/>
                  </a:lnTo>
                  <a:lnTo>
                    <a:pt x="37381" y="3332137"/>
                  </a:lnTo>
                  <a:lnTo>
                    <a:pt x="34225" y="3331171"/>
                  </a:lnTo>
                  <a:lnTo>
                    <a:pt x="31164" y="3329901"/>
                  </a:lnTo>
                  <a:lnTo>
                    <a:pt x="28103" y="3328644"/>
                  </a:lnTo>
                  <a:lnTo>
                    <a:pt x="8507" y="3311309"/>
                  </a:lnTo>
                  <a:lnTo>
                    <a:pt x="6667" y="3308553"/>
                  </a:lnTo>
                  <a:lnTo>
                    <a:pt x="5109" y="3305644"/>
                  </a:lnTo>
                  <a:lnTo>
                    <a:pt x="3844" y="3302584"/>
                  </a:lnTo>
                  <a:lnTo>
                    <a:pt x="2574" y="3299523"/>
                  </a:lnTo>
                  <a:lnTo>
                    <a:pt x="1616" y="3296373"/>
                  </a:lnTo>
                  <a:lnTo>
                    <a:pt x="972" y="3293110"/>
                  </a:lnTo>
                  <a:lnTo>
                    <a:pt x="322" y="3289858"/>
                  </a:lnTo>
                  <a:lnTo>
                    <a:pt x="0" y="3286582"/>
                  </a:lnTo>
                  <a:lnTo>
                    <a:pt x="0" y="3283267"/>
                  </a:lnTo>
                  <a:close/>
                </a:path>
              </a:pathLst>
            </a:custGeom>
            <a:ln w="19050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19125" y="1752600"/>
              <a:ext cx="681355" cy="3314700"/>
            </a:xfrm>
            <a:custGeom>
              <a:avLst/>
              <a:gdLst/>
              <a:ahLst/>
              <a:cxnLst/>
              <a:rect l="l" t="t" r="r" b="b"/>
              <a:pathLst>
                <a:path w="681355" h="3314700">
                  <a:moveTo>
                    <a:pt x="681037" y="0"/>
                  </a:moveTo>
                  <a:lnTo>
                    <a:pt x="35525" y="0"/>
                  </a:lnTo>
                  <a:lnTo>
                    <a:pt x="30300" y="1041"/>
                  </a:lnTo>
                  <a:lnTo>
                    <a:pt x="1036" y="30302"/>
                  </a:lnTo>
                  <a:lnTo>
                    <a:pt x="0" y="35521"/>
                  </a:lnTo>
                  <a:lnTo>
                    <a:pt x="0" y="3273742"/>
                  </a:lnTo>
                  <a:lnTo>
                    <a:pt x="0" y="3279178"/>
                  </a:lnTo>
                  <a:lnTo>
                    <a:pt x="30300" y="3313658"/>
                  </a:lnTo>
                  <a:lnTo>
                    <a:pt x="35525" y="3314700"/>
                  </a:lnTo>
                  <a:lnTo>
                    <a:pt x="681037" y="3314700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95400" y="1752600"/>
              <a:ext cx="9525" cy="3314700"/>
            </a:xfrm>
            <a:custGeom>
              <a:avLst/>
              <a:gdLst/>
              <a:ahLst/>
              <a:cxnLst/>
              <a:rect l="l" t="t" r="r" b="b"/>
              <a:pathLst>
                <a:path w="9525" h="3314700">
                  <a:moveTo>
                    <a:pt x="9525" y="0"/>
                  </a:moveTo>
                  <a:lnTo>
                    <a:pt x="0" y="0"/>
                  </a:lnTo>
                  <a:lnTo>
                    <a:pt x="0" y="3314700"/>
                  </a:lnTo>
                  <a:lnTo>
                    <a:pt x="9525" y="33147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5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04950" y="3067049"/>
              <a:ext cx="57150" cy="1724025"/>
            </a:xfrm>
            <a:custGeom>
              <a:avLst/>
              <a:gdLst/>
              <a:ahLst/>
              <a:cxnLst/>
              <a:rect l="l" t="t" r="r" b="b"/>
              <a:pathLst>
                <a:path w="57150" h="1724025">
                  <a:moveTo>
                    <a:pt x="57150" y="1691652"/>
                  </a:moveTo>
                  <a:lnTo>
                    <a:pt x="32359" y="1666875"/>
                  </a:lnTo>
                  <a:lnTo>
                    <a:pt x="24790" y="1666875"/>
                  </a:lnTo>
                  <a:lnTo>
                    <a:pt x="0" y="1691652"/>
                  </a:lnTo>
                  <a:lnTo>
                    <a:pt x="0" y="1699234"/>
                  </a:lnTo>
                  <a:lnTo>
                    <a:pt x="24790" y="1724025"/>
                  </a:lnTo>
                  <a:lnTo>
                    <a:pt x="32359" y="1724025"/>
                  </a:lnTo>
                  <a:lnTo>
                    <a:pt x="57150" y="1699234"/>
                  </a:lnTo>
                  <a:lnTo>
                    <a:pt x="57150" y="1695450"/>
                  </a:lnTo>
                  <a:lnTo>
                    <a:pt x="57150" y="1691652"/>
                  </a:lnTo>
                  <a:close/>
                </a:path>
                <a:path w="57150" h="1724025">
                  <a:moveTo>
                    <a:pt x="57150" y="1358277"/>
                  </a:moveTo>
                  <a:lnTo>
                    <a:pt x="32359" y="1333500"/>
                  </a:lnTo>
                  <a:lnTo>
                    <a:pt x="24790" y="1333500"/>
                  </a:lnTo>
                  <a:lnTo>
                    <a:pt x="0" y="1358277"/>
                  </a:lnTo>
                  <a:lnTo>
                    <a:pt x="0" y="1365859"/>
                  </a:lnTo>
                  <a:lnTo>
                    <a:pt x="24790" y="1390650"/>
                  </a:lnTo>
                  <a:lnTo>
                    <a:pt x="32359" y="1390650"/>
                  </a:lnTo>
                  <a:lnTo>
                    <a:pt x="57150" y="1365859"/>
                  </a:lnTo>
                  <a:lnTo>
                    <a:pt x="57150" y="1362075"/>
                  </a:lnTo>
                  <a:lnTo>
                    <a:pt x="57150" y="1358277"/>
                  </a:lnTo>
                  <a:close/>
                </a:path>
                <a:path w="57150" h="1724025">
                  <a:moveTo>
                    <a:pt x="57150" y="1024902"/>
                  </a:moveTo>
                  <a:lnTo>
                    <a:pt x="32359" y="1000125"/>
                  </a:lnTo>
                  <a:lnTo>
                    <a:pt x="24790" y="1000125"/>
                  </a:lnTo>
                  <a:lnTo>
                    <a:pt x="0" y="1024902"/>
                  </a:lnTo>
                  <a:lnTo>
                    <a:pt x="0" y="1032484"/>
                  </a:lnTo>
                  <a:lnTo>
                    <a:pt x="24790" y="1057275"/>
                  </a:lnTo>
                  <a:lnTo>
                    <a:pt x="32359" y="1057275"/>
                  </a:lnTo>
                  <a:lnTo>
                    <a:pt x="57150" y="1032484"/>
                  </a:lnTo>
                  <a:lnTo>
                    <a:pt x="57150" y="1028700"/>
                  </a:lnTo>
                  <a:lnTo>
                    <a:pt x="57150" y="1024902"/>
                  </a:lnTo>
                  <a:close/>
                </a:path>
                <a:path w="57150" h="1724025">
                  <a:moveTo>
                    <a:pt x="57150" y="691527"/>
                  </a:moveTo>
                  <a:lnTo>
                    <a:pt x="32359" y="666750"/>
                  </a:lnTo>
                  <a:lnTo>
                    <a:pt x="24790" y="666750"/>
                  </a:lnTo>
                  <a:lnTo>
                    <a:pt x="0" y="691527"/>
                  </a:lnTo>
                  <a:lnTo>
                    <a:pt x="0" y="699109"/>
                  </a:lnTo>
                  <a:lnTo>
                    <a:pt x="24790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27"/>
                  </a:lnTo>
                  <a:close/>
                </a:path>
                <a:path w="57150" h="1724025">
                  <a:moveTo>
                    <a:pt x="57150" y="358152"/>
                  </a:moveTo>
                  <a:lnTo>
                    <a:pt x="32359" y="333375"/>
                  </a:lnTo>
                  <a:lnTo>
                    <a:pt x="24790" y="333375"/>
                  </a:lnTo>
                  <a:lnTo>
                    <a:pt x="0" y="358152"/>
                  </a:lnTo>
                  <a:lnTo>
                    <a:pt x="0" y="365734"/>
                  </a:lnTo>
                  <a:lnTo>
                    <a:pt x="24790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52"/>
                  </a:lnTo>
                  <a:close/>
                </a:path>
                <a:path w="57150" h="1724025">
                  <a:moveTo>
                    <a:pt x="57150" y="24777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3F3C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87375" y="1282700"/>
            <a:ext cx="5769610" cy="358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Developing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a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robust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two-stage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pipeline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for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precise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blemish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analysis.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350">
              <a:latin typeface="Trebuchet MS"/>
              <a:cs typeface="Trebuchet MS"/>
            </a:endParaRPr>
          </a:p>
          <a:p>
            <a:pPr marL="889000">
              <a:lnSpc>
                <a:spcPct val="100000"/>
              </a:lnSpc>
              <a:spcBef>
                <a:spcPts val="5"/>
              </a:spcBef>
            </a:pPr>
            <a:r>
              <a:rPr dirty="0" sz="1650" spc="105" b="1">
                <a:solidFill>
                  <a:srgbClr val="3F3C4E"/>
                </a:solidFill>
                <a:latin typeface="Cambria"/>
                <a:cs typeface="Cambria"/>
              </a:rPr>
              <a:t>The</a:t>
            </a:r>
            <a:r>
              <a:rPr dirty="0" sz="1650" spc="40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3F3C4E"/>
                </a:solidFill>
                <a:latin typeface="Cambria"/>
                <a:cs typeface="Cambria"/>
              </a:rPr>
              <a:t>PToblem:</a:t>
            </a:r>
            <a:endParaRPr sz="1650">
              <a:latin typeface="Cambria"/>
              <a:cs typeface="Cambria"/>
            </a:endParaRPr>
          </a:p>
          <a:p>
            <a:pPr marL="889000" marR="5080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Given</a:t>
            </a:r>
            <a:r>
              <a:rPr dirty="0" sz="1350" spc="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a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selfie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image,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detect</a:t>
            </a:r>
            <a:r>
              <a:rPr dirty="0" sz="1350" spc="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3F3C4E"/>
                </a:solidFill>
                <a:latin typeface="Trebuchet MS"/>
                <a:cs typeface="Trebuchet MS"/>
              </a:rPr>
              <a:t>all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facial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blemish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regions</a:t>
            </a:r>
            <a:r>
              <a:rPr dirty="0" sz="1350" spc="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and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classify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each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into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one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of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six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predefined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skin-condition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classes</a:t>
            </a:r>
            <a:endParaRPr sz="1350">
              <a:latin typeface="Trebuchet MS"/>
              <a:cs typeface="Trebuchet MS"/>
            </a:endParaRPr>
          </a:p>
          <a:p>
            <a:pPr marL="1162685">
              <a:lnSpc>
                <a:spcPct val="100000"/>
              </a:lnSpc>
              <a:spcBef>
                <a:spcPts val="1380"/>
              </a:spcBef>
            </a:pPr>
            <a:r>
              <a:rPr dirty="0" sz="1350" spc="-114">
                <a:solidFill>
                  <a:srgbClr val="3F3C4E"/>
                </a:solidFill>
                <a:latin typeface="Arial Black"/>
                <a:cs typeface="Arial Black"/>
              </a:rPr>
              <a:t>Acne</a:t>
            </a:r>
            <a:r>
              <a:rPr dirty="0" sz="1350" spc="-45">
                <a:solidFill>
                  <a:srgbClr val="3F3C4E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3 pimples,</a:t>
            </a:r>
            <a:r>
              <a:rPr dirty="0" sz="1350" spc="-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inflamed </a:t>
            </a:r>
            <a:r>
              <a:rPr dirty="0" sz="1350" spc="75">
                <a:solidFill>
                  <a:srgbClr val="3F3C4E"/>
                </a:solidFill>
                <a:latin typeface="Trebuchet MS"/>
                <a:cs typeface="Trebuchet MS"/>
              </a:rPr>
              <a:t>bumps</a:t>
            </a:r>
            <a:endParaRPr sz="1350">
              <a:latin typeface="Trebuchet MS"/>
              <a:cs typeface="Trebuchet MS"/>
            </a:endParaRPr>
          </a:p>
          <a:p>
            <a:pPr marL="1162685" marR="715010">
              <a:lnSpc>
                <a:spcPct val="162000"/>
              </a:lnSpc>
            </a:pPr>
            <a:r>
              <a:rPr dirty="0" sz="1350" spc="-120">
                <a:solidFill>
                  <a:srgbClr val="3F3C4E"/>
                </a:solidFill>
                <a:latin typeface="Arial Black"/>
                <a:cs typeface="Arial Black"/>
              </a:rPr>
              <a:t>Redness</a:t>
            </a:r>
            <a:r>
              <a:rPr dirty="0" sz="1350" spc="-90">
                <a:solidFill>
                  <a:srgbClr val="3F3C4E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3</a:t>
            </a:r>
            <a:r>
              <a:rPr dirty="0" sz="1350" spc="-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irritation</a:t>
            </a:r>
            <a:r>
              <a:rPr dirty="0" sz="1350" spc="-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or</a:t>
            </a:r>
            <a:r>
              <a:rPr dirty="0" sz="1350" spc="-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localized</a:t>
            </a:r>
            <a:r>
              <a:rPr dirty="0" sz="1350" spc="-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inflammation </a:t>
            </a:r>
            <a:r>
              <a:rPr dirty="0" sz="1350" spc="-70">
                <a:solidFill>
                  <a:srgbClr val="3F3C4E"/>
                </a:solidFill>
                <a:latin typeface="Arial Black"/>
                <a:cs typeface="Arial Black"/>
              </a:rPr>
              <a:t>Hyperpigmentation</a:t>
            </a:r>
            <a:r>
              <a:rPr dirty="0" sz="1350" spc="-50">
                <a:solidFill>
                  <a:srgbClr val="3F3C4E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3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dark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spots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29">
                <a:solidFill>
                  <a:srgbClr val="3F3C4E"/>
                </a:solidFill>
                <a:latin typeface="Trebuchet MS"/>
                <a:cs typeface="Trebuchet MS"/>
              </a:rPr>
              <a:t>/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discoloration </a:t>
            </a:r>
            <a:r>
              <a:rPr dirty="0" sz="1350" spc="-85">
                <a:solidFill>
                  <a:srgbClr val="3F3C4E"/>
                </a:solidFill>
                <a:latin typeface="Arial Black"/>
                <a:cs typeface="Arial Black"/>
              </a:rPr>
              <a:t>Dryness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3</a:t>
            </a:r>
            <a:r>
              <a:rPr dirty="0" sz="1350" spc="-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dry</a:t>
            </a:r>
            <a:r>
              <a:rPr dirty="0" sz="1350" spc="-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or</a:t>
            </a:r>
            <a:r>
              <a:rPr dirty="0" sz="1350" spc="-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flaky</a:t>
            </a:r>
            <a:r>
              <a:rPr dirty="0" sz="1350" spc="-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skin</a:t>
            </a:r>
            <a:endParaRPr sz="1350">
              <a:latin typeface="Trebuchet MS"/>
              <a:cs typeface="Trebuchet MS"/>
            </a:endParaRPr>
          </a:p>
          <a:p>
            <a:pPr marL="1162685">
              <a:lnSpc>
                <a:spcPct val="100000"/>
              </a:lnSpc>
              <a:spcBef>
                <a:spcPts val="1005"/>
              </a:spcBef>
            </a:pPr>
            <a:r>
              <a:rPr dirty="0" sz="1350" spc="-90">
                <a:solidFill>
                  <a:srgbClr val="3F3C4E"/>
                </a:solidFill>
                <a:latin typeface="Arial Black"/>
                <a:cs typeface="Arial Black"/>
              </a:rPr>
              <a:t>Texture</a:t>
            </a:r>
            <a:r>
              <a:rPr dirty="0" sz="1350" spc="-5">
                <a:solidFill>
                  <a:srgbClr val="3F3C4E"/>
                </a:solidFill>
                <a:latin typeface="Arial Black"/>
                <a:cs typeface="Arial Black"/>
              </a:rPr>
              <a:t> </a:t>
            </a:r>
            <a:r>
              <a:rPr dirty="0" sz="1350" spc="-120">
                <a:solidFill>
                  <a:srgbClr val="3F3C4E"/>
                </a:solidFill>
                <a:latin typeface="Arial Black"/>
                <a:cs typeface="Arial Black"/>
              </a:rPr>
              <a:t>Issues</a:t>
            </a:r>
            <a:r>
              <a:rPr dirty="0" sz="1350" spc="-10">
                <a:solidFill>
                  <a:srgbClr val="3F3C4E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3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uneven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skin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texture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29">
                <a:solidFill>
                  <a:srgbClr val="3F3C4E"/>
                </a:solidFill>
                <a:latin typeface="Trebuchet MS"/>
                <a:cs typeface="Trebuchet MS"/>
              </a:rPr>
              <a:t>/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enlarged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pores</a:t>
            </a:r>
            <a:endParaRPr sz="1350">
              <a:latin typeface="Trebuchet MS"/>
              <a:cs typeface="Trebuchet MS"/>
            </a:endParaRPr>
          </a:p>
          <a:p>
            <a:pPr marL="1162685">
              <a:lnSpc>
                <a:spcPct val="100000"/>
              </a:lnSpc>
              <a:spcBef>
                <a:spcPts val="1005"/>
              </a:spcBef>
            </a:pPr>
            <a:r>
              <a:rPr dirty="0" sz="1350" spc="-90">
                <a:solidFill>
                  <a:srgbClr val="3F3C4E"/>
                </a:solidFill>
                <a:latin typeface="Arial Black"/>
                <a:cs typeface="Arial Black"/>
              </a:rPr>
              <a:t>Scarring</a:t>
            </a:r>
            <a:r>
              <a:rPr dirty="0" sz="1350" spc="-15">
                <a:solidFill>
                  <a:srgbClr val="3F3C4E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3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post-acne</a:t>
            </a:r>
            <a:r>
              <a:rPr dirty="0" sz="1350" spc="2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scars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or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indentations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00075" y="5257800"/>
            <a:ext cx="5943600" cy="1028700"/>
            <a:chOff x="600075" y="5257800"/>
            <a:chExt cx="5943600" cy="1028700"/>
          </a:xfrm>
        </p:grpSpPr>
        <p:sp>
          <p:nvSpPr>
            <p:cNvPr id="13" name="object 13" descr=""/>
            <p:cNvSpPr/>
            <p:nvPr/>
          </p:nvSpPr>
          <p:spPr>
            <a:xfrm>
              <a:off x="609600" y="5267325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78"/>
                  </a:lnTo>
                  <a:lnTo>
                    <a:pt x="972" y="40640"/>
                  </a:lnTo>
                  <a:lnTo>
                    <a:pt x="1616" y="37388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092"/>
                  </a:lnTo>
                  <a:lnTo>
                    <a:pt x="6667" y="25196"/>
                  </a:lnTo>
                  <a:lnTo>
                    <a:pt x="8507" y="22440"/>
                  </a:lnTo>
                  <a:lnTo>
                    <a:pt x="10347" y="19685"/>
                  </a:lnTo>
                  <a:lnTo>
                    <a:pt x="12442" y="17132"/>
                  </a:lnTo>
                  <a:lnTo>
                    <a:pt x="31164" y="3848"/>
                  </a:lnTo>
                  <a:lnTo>
                    <a:pt x="34225" y="2578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17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890323" y="2578"/>
                  </a:lnTo>
                  <a:lnTo>
                    <a:pt x="5893384" y="3848"/>
                  </a:lnTo>
                  <a:lnTo>
                    <a:pt x="5896444" y="5105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88"/>
                  </a:lnTo>
                  <a:lnTo>
                    <a:pt x="5923572" y="40640"/>
                  </a:lnTo>
                  <a:lnTo>
                    <a:pt x="5924232" y="43878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959167"/>
                  </a:lnTo>
                  <a:lnTo>
                    <a:pt x="5924550" y="962482"/>
                  </a:lnTo>
                  <a:lnTo>
                    <a:pt x="5924232" y="965758"/>
                  </a:lnTo>
                  <a:lnTo>
                    <a:pt x="5923572" y="969010"/>
                  </a:lnTo>
                  <a:lnTo>
                    <a:pt x="5922937" y="972261"/>
                  </a:lnTo>
                  <a:lnTo>
                    <a:pt x="5921971" y="975423"/>
                  </a:lnTo>
                  <a:lnTo>
                    <a:pt x="5920701" y="978484"/>
                  </a:lnTo>
                  <a:lnTo>
                    <a:pt x="5919444" y="981544"/>
                  </a:lnTo>
                  <a:lnTo>
                    <a:pt x="5902109" y="1001141"/>
                  </a:lnTo>
                  <a:lnTo>
                    <a:pt x="5899353" y="1002982"/>
                  </a:lnTo>
                  <a:lnTo>
                    <a:pt x="5896444" y="1004544"/>
                  </a:lnTo>
                  <a:lnTo>
                    <a:pt x="5893384" y="1005801"/>
                  </a:lnTo>
                  <a:lnTo>
                    <a:pt x="5890323" y="1007071"/>
                  </a:lnTo>
                  <a:lnTo>
                    <a:pt x="5887161" y="1008037"/>
                  </a:lnTo>
                  <a:lnTo>
                    <a:pt x="5883910" y="1008684"/>
                  </a:lnTo>
                  <a:lnTo>
                    <a:pt x="5880671" y="1009332"/>
                  </a:lnTo>
                  <a:lnTo>
                    <a:pt x="5877382" y="1009650"/>
                  </a:lnTo>
                  <a:lnTo>
                    <a:pt x="5874067" y="1009650"/>
                  </a:lnTo>
                  <a:lnTo>
                    <a:pt x="50482" y="1009650"/>
                  </a:lnTo>
                  <a:lnTo>
                    <a:pt x="47169" y="1009650"/>
                  </a:lnTo>
                  <a:lnTo>
                    <a:pt x="43884" y="1009332"/>
                  </a:lnTo>
                  <a:lnTo>
                    <a:pt x="40634" y="1008684"/>
                  </a:lnTo>
                  <a:lnTo>
                    <a:pt x="37381" y="1008037"/>
                  </a:lnTo>
                  <a:lnTo>
                    <a:pt x="34225" y="1007071"/>
                  </a:lnTo>
                  <a:lnTo>
                    <a:pt x="31164" y="1005801"/>
                  </a:lnTo>
                  <a:lnTo>
                    <a:pt x="28103" y="1004544"/>
                  </a:lnTo>
                  <a:lnTo>
                    <a:pt x="3844" y="978484"/>
                  </a:lnTo>
                  <a:lnTo>
                    <a:pt x="2574" y="975423"/>
                  </a:lnTo>
                  <a:lnTo>
                    <a:pt x="1616" y="972261"/>
                  </a:lnTo>
                  <a:lnTo>
                    <a:pt x="972" y="969010"/>
                  </a:lnTo>
                  <a:lnTo>
                    <a:pt x="322" y="965758"/>
                  </a:lnTo>
                  <a:lnTo>
                    <a:pt x="0" y="962482"/>
                  </a:lnTo>
                  <a:lnTo>
                    <a:pt x="0" y="959167"/>
                  </a:lnTo>
                  <a:close/>
                </a:path>
              </a:pathLst>
            </a:custGeom>
            <a:ln w="19050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19125" y="5276850"/>
              <a:ext cx="681355" cy="990600"/>
            </a:xfrm>
            <a:custGeom>
              <a:avLst/>
              <a:gdLst/>
              <a:ahLst/>
              <a:cxnLst/>
              <a:rect l="l" t="t" r="r" b="b"/>
              <a:pathLst>
                <a:path w="681355" h="990600">
                  <a:moveTo>
                    <a:pt x="681037" y="0"/>
                  </a:moveTo>
                  <a:lnTo>
                    <a:pt x="35525" y="0"/>
                  </a:lnTo>
                  <a:lnTo>
                    <a:pt x="30300" y="1041"/>
                  </a:lnTo>
                  <a:lnTo>
                    <a:pt x="1036" y="30302"/>
                  </a:lnTo>
                  <a:lnTo>
                    <a:pt x="0" y="35521"/>
                  </a:lnTo>
                  <a:lnTo>
                    <a:pt x="0" y="949642"/>
                  </a:lnTo>
                  <a:lnTo>
                    <a:pt x="0" y="955078"/>
                  </a:lnTo>
                  <a:lnTo>
                    <a:pt x="30300" y="989558"/>
                  </a:lnTo>
                  <a:lnTo>
                    <a:pt x="35525" y="990600"/>
                  </a:lnTo>
                  <a:lnTo>
                    <a:pt x="681037" y="990600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95400" y="527685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5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525" y="9906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5BDB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463675" y="5430837"/>
            <a:ext cx="136207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 b="1">
                <a:solidFill>
                  <a:srgbClr val="3F3C4E"/>
                </a:solidFill>
                <a:latin typeface="Cambria"/>
                <a:cs typeface="Cambria"/>
              </a:rPr>
              <a:t>InpUt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70">
                <a:solidFill>
                  <a:srgbClr val="3F3C4E"/>
                </a:solidFill>
                <a:latin typeface="Trebuchet MS"/>
                <a:cs typeface="Trebuchet MS"/>
              </a:rPr>
              <a:t>RGB</a:t>
            </a:r>
            <a:r>
              <a:rPr dirty="0" sz="1350" spc="-7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selfie</a:t>
            </a:r>
            <a:r>
              <a:rPr dirty="0" sz="1350" spc="-7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image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00075" y="6457950"/>
            <a:ext cx="5943600" cy="2362200"/>
            <a:chOff x="600075" y="6457950"/>
            <a:chExt cx="5943600" cy="2362200"/>
          </a:xfrm>
        </p:grpSpPr>
        <p:sp>
          <p:nvSpPr>
            <p:cNvPr id="18" name="object 18" descr=""/>
            <p:cNvSpPr/>
            <p:nvPr/>
          </p:nvSpPr>
          <p:spPr>
            <a:xfrm>
              <a:off x="609600" y="6467475"/>
              <a:ext cx="5924550" cy="2343150"/>
            </a:xfrm>
            <a:custGeom>
              <a:avLst/>
              <a:gdLst/>
              <a:ahLst/>
              <a:cxnLst/>
              <a:rect l="l" t="t" r="r" b="b"/>
              <a:pathLst>
                <a:path w="5924550" h="2343150">
                  <a:moveTo>
                    <a:pt x="0" y="22926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78"/>
                  </a:lnTo>
                  <a:lnTo>
                    <a:pt x="972" y="40640"/>
                  </a:lnTo>
                  <a:lnTo>
                    <a:pt x="1616" y="37376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092"/>
                  </a:lnTo>
                  <a:lnTo>
                    <a:pt x="6667" y="25196"/>
                  </a:lnTo>
                  <a:lnTo>
                    <a:pt x="31164" y="3848"/>
                  </a:lnTo>
                  <a:lnTo>
                    <a:pt x="34225" y="2578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17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890323" y="2578"/>
                  </a:lnTo>
                  <a:lnTo>
                    <a:pt x="5893384" y="3848"/>
                  </a:lnTo>
                  <a:lnTo>
                    <a:pt x="5896444" y="5105"/>
                  </a:lnTo>
                  <a:lnTo>
                    <a:pt x="5899353" y="6667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40"/>
                  </a:lnTo>
                  <a:lnTo>
                    <a:pt x="5924232" y="43878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2292667"/>
                  </a:lnTo>
                  <a:lnTo>
                    <a:pt x="5924550" y="2295982"/>
                  </a:lnTo>
                  <a:lnTo>
                    <a:pt x="5924232" y="2299258"/>
                  </a:lnTo>
                  <a:lnTo>
                    <a:pt x="5923572" y="2302510"/>
                  </a:lnTo>
                  <a:lnTo>
                    <a:pt x="5922937" y="2305773"/>
                  </a:lnTo>
                  <a:lnTo>
                    <a:pt x="5921971" y="2308923"/>
                  </a:lnTo>
                  <a:lnTo>
                    <a:pt x="5920701" y="2311984"/>
                  </a:lnTo>
                  <a:lnTo>
                    <a:pt x="5919444" y="2315044"/>
                  </a:lnTo>
                  <a:lnTo>
                    <a:pt x="5902109" y="2334641"/>
                  </a:lnTo>
                  <a:lnTo>
                    <a:pt x="5899353" y="2336482"/>
                  </a:lnTo>
                  <a:lnTo>
                    <a:pt x="5896444" y="2338044"/>
                  </a:lnTo>
                  <a:lnTo>
                    <a:pt x="5893384" y="2339301"/>
                  </a:lnTo>
                  <a:lnTo>
                    <a:pt x="5890323" y="2340571"/>
                  </a:lnTo>
                  <a:lnTo>
                    <a:pt x="5887161" y="2341537"/>
                  </a:lnTo>
                  <a:lnTo>
                    <a:pt x="5883910" y="2342172"/>
                  </a:lnTo>
                  <a:lnTo>
                    <a:pt x="5880671" y="2342832"/>
                  </a:lnTo>
                  <a:lnTo>
                    <a:pt x="5877382" y="2343150"/>
                  </a:lnTo>
                  <a:lnTo>
                    <a:pt x="5874067" y="2343150"/>
                  </a:lnTo>
                  <a:lnTo>
                    <a:pt x="50482" y="2343150"/>
                  </a:lnTo>
                  <a:lnTo>
                    <a:pt x="47169" y="2343150"/>
                  </a:lnTo>
                  <a:lnTo>
                    <a:pt x="43884" y="2342832"/>
                  </a:lnTo>
                  <a:lnTo>
                    <a:pt x="40634" y="2342172"/>
                  </a:lnTo>
                  <a:lnTo>
                    <a:pt x="37381" y="2341537"/>
                  </a:lnTo>
                  <a:lnTo>
                    <a:pt x="34225" y="2340571"/>
                  </a:lnTo>
                  <a:lnTo>
                    <a:pt x="31164" y="2339301"/>
                  </a:lnTo>
                  <a:lnTo>
                    <a:pt x="28103" y="2338044"/>
                  </a:lnTo>
                  <a:lnTo>
                    <a:pt x="14784" y="2328354"/>
                  </a:lnTo>
                  <a:lnTo>
                    <a:pt x="12442" y="2326017"/>
                  </a:lnTo>
                  <a:lnTo>
                    <a:pt x="10347" y="2323465"/>
                  </a:lnTo>
                  <a:lnTo>
                    <a:pt x="8507" y="2320709"/>
                  </a:lnTo>
                  <a:lnTo>
                    <a:pt x="6667" y="2317953"/>
                  </a:lnTo>
                  <a:lnTo>
                    <a:pt x="5109" y="2315044"/>
                  </a:lnTo>
                  <a:lnTo>
                    <a:pt x="3844" y="2311984"/>
                  </a:lnTo>
                  <a:lnTo>
                    <a:pt x="2574" y="2308923"/>
                  </a:lnTo>
                  <a:lnTo>
                    <a:pt x="1616" y="2305761"/>
                  </a:lnTo>
                  <a:lnTo>
                    <a:pt x="972" y="2302510"/>
                  </a:lnTo>
                  <a:lnTo>
                    <a:pt x="322" y="2299258"/>
                  </a:lnTo>
                  <a:lnTo>
                    <a:pt x="0" y="2295982"/>
                  </a:lnTo>
                  <a:lnTo>
                    <a:pt x="0" y="2292667"/>
                  </a:lnTo>
                  <a:close/>
                </a:path>
              </a:pathLst>
            </a:custGeom>
            <a:ln w="19050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9125" y="6477000"/>
              <a:ext cx="681355" cy="2324100"/>
            </a:xfrm>
            <a:custGeom>
              <a:avLst/>
              <a:gdLst/>
              <a:ahLst/>
              <a:cxnLst/>
              <a:rect l="l" t="t" r="r" b="b"/>
              <a:pathLst>
                <a:path w="681355" h="2324100">
                  <a:moveTo>
                    <a:pt x="681037" y="0"/>
                  </a:moveTo>
                  <a:lnTo>
                    <a:pt x="35525" y="0"/>
                  </a:lnTo>
                  <a:lnTo>
                    <a:pt x="30300" y="1041"/>
                  </a:lnTo>
                  <a:lnTo>
                    <a:pt x="1036" y="30302"/>
                  </a:lnTo>
                  <a:lnTo>
                    <a:pt x="0" y="35521"/>
                  </a:lnTo>
                  <a:lnTo>
                    <a:pt x="0" y="2283142"/>
                  </a:lnTo>
                  <a:lnTo>
                    <a:pt x="0" y="2288578"/>
                  </a:lnTo>
                  <a:lnTo>
                    <a:pt x="30300" y="2323058"/>
                  </a:lnTo>
                  <a:lnTo>
                    <a:pt x="35525" y="2324100"/>
                  </a:lnTo>
                  <a:lnTo>
                    <a:pt x="681037" y="2324100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95400" y="6477000"/>
              <a:ext cx="9525" cy="2324100"/>
            </a:xfrm>
            <a:custGeom>
              <a:avLst/>
              <a:gdLst/>
              <a:ahLst/>
              <a:cxnLst/>
              <a:rect l="l" t="t" r="r" b="b"/>
              <a:pathLst>
                <a:path w="9525" h="2324100">
                  <a:moveTo>
                    <a:pt x="9525" y="0"/>
                  </a:moveTo>
                  <a:lnTo>
                    <a:pt x="0" y="0"/>
                  </a:lnTo>
                  <a:lnTo>
                    <a:pt x="0" y="2324100"/>
                  </a:lnTo>
                  <a:lnTo>
                    <a:pt x="9525" y="23241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5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04950" y="7134224"/>
              <a:ext cx="57150" cy="1390650"/>
            </a:xfrm>
            <a:custGeom>
              <a:avLst/>
              <a:gdLst/>
              <a:ahLst/>
              <a:cxnLst/>
              <a:rect l="l" t="t" r="r" b="b"/>
              <a:pathLst>
                <a:path w="57150" h="1390650">
                  <a:moveTo>
                    <a:pt x="57150" y="1358277"/>
                  </a:moveTo>
                  <a:lnTo>
                    <a:pt x="32359" y="1333500"/>
                  </a:lnTo>
                  <a:lnTo>
                    <a:pt x="24790" y="1333500"/>
                  </a:lnTo>
                  <a:lnTo>
                    <a:pt x="0" y="1358277"/>
                  </a:lnTo>
                  <a:lnTo>
                    <a:pt x="0" y="1365859"/>
                  </a:lnTo>
                  <a:lnTo>
                    <a:pt x="24790" y="1390650"/>
                  </a:lnTo>
                  <a:lnTo>
                    <a:pt x="32359" y="1390650"/>
                  </a:lnTo>
                  <a:lnTo>
                    <a:pt x="57150" y="1365859"/>
                  </a:lnTo>
                  <a:lnTo>
                    <a:pt x="57150" y="1362075"/>
                  </a:lnTo>
                  <a:lnTo>
                    <a:pt x="57150" y="1358277"/>
                  </a:lnTo>
                  <a:close/>
                </a:path>
                <a:path w="57150" h="1390650">
                  <a:moveTo>
                    <a:pt x="57150" y="1024902"/>
                  </a:moveTo>
                  <a:lnTo>
                    <a:pt x="32359" y="1000125"/>
                  </a:lnTo>
                  <a:lnTo>
                    <a:pt x="24790" y="1000125"/>
                  </a:lnTo>
                  <a:lnTo>
                    <a:pt x="0" y="1024902"/>
                  </a:lnTo>
                  <a:lnTo>
                    <a:pt x="0" y="1032484"/>
                  </a:lnTo>
                  <a:lnTo>
                    <a:pt x="24790" y="1057275"/>
                  </a:lnTo>
                  <a:lnTo>
                    <a:pt x="32359" y="1057275"/>
                  </a:lnTo>
                  <a:lnTo>
                    <a:pt x="57150" y="1032484"/>
                  </a:lnTo>
                  <a:lnTo>
                    <a:pt x="57150" y="1028700"/>
                  </a:lnTo>
                  <a:lnTo>
                    <a:pt x="57150" y="1024902"/>
                  </a:lnTo>
                  <a:close/>
                </a:path>
                <a:path w="57150" h="1390650">
                  <a:moveTo>
                    <a:pt x="57150" y="691527"/>
                  </a:moveTo>
                  <a:lnTo>
                    <a:pt x="32359" y="666750"/>
                  </a:lnTo>
                  <a:lnTo>
                    <a:pt x="24790" y="666750"/>
                  </a:lnTo>
                  <a:lnTo>
                    <a:pt x="0" y="691527"/>
                  </a:lnTo>
                  <a:lnTo>
                    <a:pt x="0" y="699109"/>
                  </a:lnTo>
                  <a:lnTo>
                    <a:pt x="24790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27"/>
                  </a:lnTo>
                  <a:close/>
                </a:path>
                <a:path w="57150" h="1390650">
                  <a:moveTo>
                    <a:pt x="57150" y="358152"/>
                  </a:moveTo>
                  <a:lnTo>
                    <a:pt x="32359" y="333375"/>
                  </a:lnTo>
                  <a:lnTo>
                    <a:pt x="24790" y="333375"/>
                  </a:lnTo>
                  <a:lnTo>
                    <a:pt x="0" y="358152"/>
                  </a:lnTo>
                  <a:lnTo>
                    <a:pt x="0" y="365734"/>
                  </a:lnTo>
                  <a:lnTo>
                    <a:pt x="24790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52"/>
                  </a:lnTo>
                  <a:close/>
                </a:path>
                <a:path w="57150" h="1390650">
                  <a:moveTo>
                    <a:pt x="57150" y="24777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3F3C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463675" y="6630987"/>
            <a:ext cx="3843654" cy="19697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3F3C4E"/>
                </a:solidFill>
                <a:latin typeface="Cambria"/>
                <a:cs typeface="Cambria"/>
              </a:rPr>
              <a:t>OUtpUt</a:t>
            </a:r>
            <a:endParaRPr sz="1650">
              <a:latin typeface="Cambria"/>
              <a:cs typeface="Cambria"/>
            </a:endParaRPr>
          </a:p>
          <a:p>
            <a:pPr marL="286385" marR="367665">
              <a:lnSpc>
                <a:spcPct val="162000"/>
              </a:lnSpc>
              <a:spcBef>
                <a:spcPts val="16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Binary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mask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(blemish=1,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normal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skin=0)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Extracted</a:t>
            </a:r>
            <a:r>
              <a:rPr dirty="0" sz="1350" spc="9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blemish</a:t>
            </a:r>
            <a:r>
              <a:rPr dirty="0" sz="1350" spc="9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regions</a:t>
            </a:r>
            <a:endParaRPr sz="13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Class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label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(6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classes)</a:t>
            </a:r>
            <a:endParaRPr sz="1350">
              <a:latin typeface="Trebuchet MS"/>
              <a:cs typeface="Trebuchet MS"/>
            </a:endParaRPr>
          </a:p>
          <a:p>
            <a:pPr marL="286385" marR="5080">
              <a:lnSpc>
                <a:spcPct val="162000"/>
              </a:lnSpc>
            </a:pP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Facial</a:t>
            </a:r>
            <a:r>
              <a:rPr dirty="0" sz="1350" spc="-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location</a:t>
            </a:r>
            <a:r>
              <a:rPr dirty="0" sz="1350" spc="-2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(forehead,</a:t>
            </a:r>
            <a:r>
              <a:rPr dirty="0" sz="1350" spc="-2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cheeks,</a:t>
            </a:r>
            <a:r>
              <a:rPr dirty="0" sz="1350" spc="-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chin,</a:t>
            </a:r>
            <a:r>
              <a:rPr dirty="0" sz="1350" spc="-2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nose)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Short</a:t>
            </a:r>
            <a:r>
              <a:rPr dirty="0" sz="1350" spc="9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explanation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+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skincare</a:t>
            </a:r>
            <a:r>
              <a:rPr dirty="0" sz="1350" spc="10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suggestion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00075" y="8991600"/>
            <a:ext cx="5943600" cy="1695450"/>
            <a:chOff x="600075" y="8991600"/>
            <a:chExt cx="5943600" cy="1695450"/>
          </a:xfrm>
        </p:grpSpPr>
        <p:sp>
          <p:nvSpPr>
            <p:cNvPr id="24" name="object 24" descr=""/>
            <p:cNvSpPr/>
            <p:nvPr/>
          </p:nvSpPr>
          <p:spPr>
            <a:xfrm>
              <a:off x="609600" y="9001125"/>
              <a:ext cx="5924550" cy="1676400"/>
            </a:xfrm>
            <a:custGeom>
              <a:avLst/>
              <a:gdLst/>
              <a:ahLst/>
              <a:cxnLst/>
              <a:rect l="l" t="t" r="r" b="b"/>
              <a:pathLst>
                <a:path w="5924550" h="1676400">
                  <a:moveTo>
                    <a:pt x="0" y="1625916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78"/>
                  </a:lnTo>
                  <a:lnTo>
                    <a:pt x="972" y="40640"/>
                  </a:lnTo>
                  <a:lnTo>
                    <a:pt x="1616" y="37376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092"/>
                  </a:lnTo>
                  <a:lnTo>
                    <a:pt x="6667" y="25196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17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40"/>
                  </a:lnTo>
                  <a:lnTo>
                    <a:pt x="5924232" y="43878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1625916"/>
                  </a:lnTo>
                  <a:lnTo>
                    <a:pt x="5924550" y="1629230"/>
                  </a:lnTo>
                  <a:lnTo>
                    <a:pt x="5924232" y="1632515"/>
                  </a:lnTo>
                  <a:lnTo>
                    <a:pt x="5923572" y="1635763"/>
                  </a:lnTo>
                  <a:lnTo>
                    <a:pt x="5922937" y="1639013"/>
                  </a:lnTo>
                  <a:lnTo>
                    <a:pt x="5921971" y="1642168"/>
                  </a:lnTo>
                  <a:lnTo>
                    <a:pt x="5920701" y="1645234"/>
                  </a:lnTo>
                  <a:lnTo>
                    <a:pt x="5919444" y="1648294"/>
                  </a:lnTo>
                  <a:lnTo>
                    <a:pt x="5917882" y="1651207"/>
                  </a:lnTo>
                  <a:lnTo>
                    <a:pt x="5916041" y="1653960"/>
                  </a:lnTo>
                  <a:lnTo>
                    <a:pt x="5914199" y="1656718"/>
                  </a:lnTo>
                  <a:lnTo>
                    <a:pt x="5883910" y="1675427"/>
                  </a:lnTo>
                  <a:lnTo>
                    <a:pt x="5880671" y="1676076"/>
                  </a:lnTo>
                  <a:lnTo>
                    <a:pt x="5877382" y="1676398"/>
                  </a:lnTo>
                  <a:lnTo>
                    <a:pt x="5874067" y="1676398"/>
                  </a:lnTo>
                  <a:lnTo>
                    <a:pt x="50482" y="1676398"/>
                  </a:lnTo>
                  <a:lnTo>
                    <a:pt x="47169" y="1676398"/>
                  </a:lnTo>
                  <a:lnTo>
                    <a:pt x="43884" y="1676076"/>
                  </a:lnTo>
                  <a:lnTo>
                    <a:pt x="40634" y="1675427"/>
                  </a:lnTo>
                  <a:lnTo>
                    <a:pt x="37381" y="1674782"/>
                  </a:lnTo>
                  <a:lnTo>
                    <a:pt x="14784" y="1661610"/>
                  </a:lnTo>
                  <a:lnTo>
                    <a:pt x="12442" y="1659268"/>
                  </a:lnTo>
                  <a:lnTo>
                    <a:pt x="10347" y="1656718"/>
                  </a:lnTo>
                  <a:lnTo>
                    <a:pt x="8507" y="1653960"/>
                  </a:lnTo>
                  <a:lnTo>
                    <a:pt x="6667" y="1651207"/>
                  </a:lnTo>
                  <a:lnTo>
                    <a:pt x="5109" y="1648294"/>
                  </a:lnTo>
                  <a:lnTo>
                    <a:pt x="3844" y="1645234"/>
                  </a:lnTo>
                  <a:lnTo>
                    <a:pt x="2574" y="1642168"/>
                  </a:lnTo>
                  <a:lnTo>
                    <a:pt x="1616" y="1639013"/>
                  </a:lnTo>
                  <a:lnTo>
                    <a:pt x="972" y="1635763"/>
                  </a:lnTo>
                  <a:lnTo>
                    <a:pt x="322" y="1632515"/>
                  </a:lnTo>
                  <a:lnTo>
                    <a:pt x="0" y="1629230"/>
                  </a:lnTo>
                  <a:lnTo>
                    <a:pt x="0" y="1625916"/>
                  </a:lnTo>
                  <a:close/>
                </a:path>
              </a:pathLst>
            </a:custGeom>
            <a:ln w="19050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19125" y="9010650"/>
              <a:ext cx="681355" cy="1657350"/>
            </a:xfrm>
            <a:custGeom>
              <a:avLst/>
              <a:gdLst/>
              <a:ahLst/>
              <a:cxnLst/>
              <a:rect l="l" t="t" r="r" b="b"/>
              <a:pathLst>
                <a:path w="681355" h="1657350">
                  <a:moveTo>
                    <a:pt x="681037" y="0"/>
                  </a:moveTo>
                  <a:lnTo>
                    <a:pt x="35525" y="0"/>
                  </a:lnTo>
                  <a:lnTo>
                    <a:pt x="30300" y="1041"/>
                  </a:lnTo>
                  <a:lnTo>
                    <a:pt x="1036" y="30302"/>
                  </a:lnTo>
                  <a:lnTo>
                    <a:pt x="0" y="35521"/>
                  </a:lnTo>
                  <a:lnTo>
                    <a:pt x="0" y="1616391"/>
                  </a:lnTo>
                  <a:lnTo>
                    <a:pt x="0" y="1621824"/>
                  </a:lnTo>
                  <a:lnTo>
                    <a:pt x="30300" y="1656307"/>
                  </a:lnTo>
                  <a:lnTo>
                    <a:pt x="35525" y="1657348"/>
                  </a:lnTo>
                  <a:lnTo>
                    <a:pt x="681037" y="1657348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95400" y="9010648"/>
              <a:ext cx="9525" cy="1657350"/>
            </a:xfrm>
            <a:custGeom>
              <a:avLst/>
              <a:gdLst/>
              <a:ahLst/>
              <a:cxnLst/>
              <a:rect l="l" t="t" r="r" b="b"/>
              <a:pathLst>
                <a:path w="9525" h="1657350">
                  <a:moveTo>
                    <a:pt x="9525" y="0"/>
                  </a:moveTo>
                  <a:lnTo>
                    <a:pt x="0" y="0"/>
                  </a:lnTo>
                  <a:lnTo>
                    <a:pt x="0" y="1657350"/>
                  </a:lnTo>
                  <a:lnTo>
                    <a:pt x="9525" y="16573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5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504950" y="9667874"/>
              <a:ext cx="57150" cy="723900"/>
            </a:xfrm>
            <a:custGeom>
              <a:avLst/>
              <a:gdLst/>
              <a:ahLst/>
              <a:cxnLst/>
              <a:rect l="l" t="t" r="r" b="b"/>
              <a:pathLst>
                <a:path w="57150" h="723900">
                  <a:moveTo>
                    <a:pt x="57150" y="691540"/>
                  </a:moveTo>
                  <a:lnTo>
                    <a:pt x="32359" y="666750"/>
                  </a:lnTo>
                  <a:lnTo>
                    <a:pt x="24790" y="666750"/>
                  </a:lnTo>
                  <a:lnTo>
                    <a:pt x="0" y="691540"/>
                  </a:lnTo>
                  <a:lnTo>
                    <a:pt x="0" y="699122"/>
                  </a:lnTo>
                  <a:lnTo>
                    <a:pt x="24790" y="723900"/>
                  </a:lnTo>
                  <a:lnTo>
                    <a:pt x="32359" y="723900"/>
                  </a:lnTo>
                  <a:lnTo>
                    <a:pt x="57150" y="699122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723900">
                  <a:moveTo>
                    <a:pt x="57150" y="358165"/>
                  </a:moveTo>
                  <a:lnTo>
                    <a:pt x="32359" y="333375"/>
                  </a:lnTo>
                  <a:lnTo>
                    <a:pt x="24790" y="333375"/>
                  </a:lnTo>
                  <a:lnTo>
                    <a:pt x="0" y="358165"/>
                  </a:lnTo>
                  <a:lnTo>
                    <a:pt x="0" y="365747"/>
                  </a:lnTo>
                  <a:lnTo>
                    <a:pt x="24790" y="390525"/>
                  </a:lnTo>
                  <a:lnTo>
                    <a:pt x="32359" y="390525"/>
                  </a:lnTo>
                  <a:lnTo>
                    <a:pt x="57150" y="365747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723900">
                  <a:moveTo>
                    <a:pt x="57150" y="24777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3F3C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463675" y="9164637"/>
            <a:ext cx="4200525" cy="1303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 b="1">
                <a:solidFill>
                  <a:srgbClr val="3F3C4E"/>
                </a:solidFill>
                <a:latin typeface="Cambria"/>
                <a:cs typeface="Cambria"/>
              </a:rPr>
              <a:t>Novelty</a:t>
            </a:r>
            <a:endParaRPr sz="1650">
              <a:latin typeface="Cambria"/>
              <a:cs typeface="Cambria"/>
            </a:endParaRPr>
          </a:p>
          <a:p>
            <a:pPr marL="286385" marR="5080">
              <a:lnSpc>
                <a:spcPct val="162000"/>
              </a:lnSpc>
              <a:spcBef>
                <a:spcPts val="16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Two-stage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pipeline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(mask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600" spc="875">
                <a:solidFill>
                  <a:srgbClr val="3F3C4E"/>
                </a:solidFill>
                <a:latin typeface="Times New Roman"/>
                <a:cs typeface="Times New Roman"/>
              </a:rPr>
              <a:t>³</a:t>
            </a:r>
            <a:r>
              <a:rPr dirty="0" sz="600" spc="315">
                <a:solidFill>
                  <a:srgbClr val="3F3C4E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region</a:t>
            </a:r>
            <a:r>
              <a:rPr dirty="0" sz="1350" spc="6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classification)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Region-level</a:t>
            </a:r>
            <a:r>
              <a:rPr dirty="0" sz="1350" spc="-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predictions</a:t>
            </a:r>
            <a:endParaRPr sz="13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Synthetic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data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for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balanced</a:t>
            </a:r>
            <a:r>
              <a:rPr dirty="0" sz="1350" spc="6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training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45"/>
              <a:t>ModelS</a:t>
            </a:r>
            <a:r>
              <a:rPr dirty="0" spc="70"/>
              <a:t> </a:t>
            </a:r>
            <a:r>
              <a:rPr dirty="0" spc="95"/>
              <a:t>&amp;</a:t>
            </a:r>
            <a:r>
              <a:rPr dirty="0" spc="75"/>
              <a:t> </a:t>
            </a:r>
            <a:r>
              <a:rPr dirty="0" spc="160"/>
              <a:t>MethodS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1368425"/>
            <a:ext cx="709358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A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cascaded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approach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integrating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segmentation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and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classification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for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enhanced</a:t>
            </a:r>
            <a:r>
              <a:rPr dirty="0" sz="1350" spc="3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accuracy.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94677" y="1813877"/>
            <a:ext cx="868044" cy="1039494"/>
            <a:chOff x="594677" y="1813877"/>
            <a:chExt cx="868044" cy="1039494"/>
          </a:xfrm>
        </p:grpSpPr>
        <p:sp>
          <p:nvSpPr>
            <p:cNvPr id="5" name="object 5" descr=""/>
            <p:cNvSpPr/>
            <p:nvPr/>
          </p:nvSpPr>
          <p:spPr>
            <a:xfrm>
              <a:off x="600075" y="18192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0075" y="18192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56320" y="2149475"/>
            <a:ext cx="1447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4" b="1">
                <a:solidFill>
                  <a:srgbClr val="3F3C4E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16075" y="1973262"/>
            <a:ext cx="125031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 b="1">
                <a:solidFill>
                  <a:srgbClr val="3F3C4E"/>
                </a:solidFill>
                <a:latin typeface="Cambria"/>
                <a:cs typeface="Cambria"/>
              </a:rPr>
              <a:t>Selfie</a:t>
            </a:r>
            <a:r>
              <a:rPr dirty="0" sz="1650" spc="40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30" b="1">
                <a:solidFill>
                  <a:srgbClr val="3F3C4E"/>
                </a:solidFill>
                <a:latin typeface="Cambria"/>
                <a:cs typeface="Cambria"/>
              </a:rPr>
              <a:t>InpUt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94677" y="2842577"/>
            <a:ext cx="868044" cy="1039494"/>
            <a:chOff x="594677" y="2842577"/>
            <a:chExt cx="868044" cy="1039494"/>
          </a:xfrm>
        </p:grpSpPr>
        <p:sp>
          <p:nvSpPr>
            <p:cNvPr id="10" name="object 10" descr=""/>
            <p:cNvSpPr/>
            <p:nvPr/>
          </p:nvSpPr>
          <p:spPr>
            <a:xfrm>
              <a:off x="600075" y="28479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00075" y="28479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40247" y="3178175"/>
            <a:ext cx="17716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3F3C4E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16075" y="3001962"/>
            <a:ext cx="2096770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3F3C4E"/>
                </a:solidFill>
                <a:latin typeface="Cambria"/>
                <a:cs typeface="Cambria"/>
              </a:rPr>
              <a:t>Bin6Ty</a:t>
            </a:r>
            <a:r>
              <a:rPr dirty="0" sz="1650" spc="8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95" b="1">
                <a:solidFill>
                  <a:srgbClr val="3F3C4E"/>
                </a:solidFill>
                <a:latin typeface="Cambria"/>
                <a:cs typeface="Cambria"/>
              </a:rPr>
              <a:t>M6Sk</a:t>
            </a:r>
            <a:r>
              <a:rPr dirty="0" sz="1650" spc="8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F3C4E"/>
                </a:solidFill>
                <a:latin typeface="Cambria"/>
                <a:cs typeface="Cambria"/>
              </a:rPr>
              <a:t>Model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(Segmentation)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94677" y="3871277"/>
            <a:ext cx="868044" cy="1039494"/>
            <a:chOff x="594677" y="3871277"/>
            <a:chExt cx="868044" cy="1039494"/>
          </a:xfrm>
        </p:grpSpPr>
        <p:sp>
          <p:nvSpPr>
            <p:cNvPr id="15" name="object 15" descr=""/>
            <p:cNvSpPr/>
            <p:nvPr/>
          </p:nvSpPr>
          <p:spPr>
            <a:xfrm>
              <a:off x="600075" y="38766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00075" y="38766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42329" y="4206875"/>
            <a:ext cx="1727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3F3C4E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616075" y="4030662"/>
            <a:ext cx="194754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 b="1">
                <a:solidFill>
                  <a:srgbClr val="3F3C4E"/>
                </a:solidFill>
                <a:latin typeface="Cambria"/>
                <a:cs typeface="Cambria"/>
              </a:rPr>
              <a:t>Region</a:t>
            </a:r>
            <a:r>
              <a:rPr dirty="0" sz="1650" spc="5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35" b="1">
                <a:solidFill>
                  <a:srgbClr val="3F3C4E"/>
                </a:solidFill>
                <a:latin typeface="Cambria"/>
                <a:cs typeface="Cambria"/>
              </a:rPr>
              <a:t>ExtT6ction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94677" y="4899977"/>
            <a:ext cx="868044" cy="1039494"/>
            <a:chOff x="594677" y="4899977"/>
            <a:chExt cx="868044" cy="1039494"/>
          </a:xfrm>
        </p:grpSpPr>
        <p:sp>
          <p:nvSpPr>
            <p:cNvPr id="20" name="object 20" descr=""/>
            <p:cNvSpPr/>
            <p:nvPr/>
          </p:nvSpPr>
          <p:spPr>
            <a:xfrm>
              <a:off x="600075" y="49053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0075" y="49053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934144" y="5235574"/>
            <a:ext cx="18923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14" b="1">
                <a:solidFill>
                  <a:srgbClr val="3F3C4E"/>
                </a:solidFill>
                <a:latin typeface="Cambria"/>
                <a:cs typeface="Cambria"/>
              </a:rPr>
              <a:t>Ł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616075" y="5059362"/>
            <a:ext cx="218249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 b="1">
                <a:solidFill>
                  <a:srgbClr val="3F3C4E"/>
                </a:solidFill>
                <a:latin typeface="Cambria"/>
                <a:cs typeface="Cambria"/>
              </a:rPr>
              <a:t>Cl6SSific6tion</a:t>
            </a:r>
            <a:r>
              <a:rPr dirty="0" sz="1650" spc="40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F3C4E"/>
                </a:solidFill>
                <a:latin typeface="Cambria"/>
                <a:cs typeface="Cambria"/>
              </a:rPr>
              <a:t>Model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-30">
                <a:solidFill>
                  <a:srgbClr val="3F3C4E"/>
                </a:solidFill>
                <a:latin typeface="Trebuchet MS"/>
                <a:cs typeface="Trebuchet MS"/>
              </a:rPr>
              <a:t>(EfficientNet,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6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classes)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94677" y="5928677"/>
            <a:ext cx="868044" cy="1039494"/>
            <a:chOff x="594677" y="5928677"/>
            <a:chExt cx="868044" cy="1039494"/>
          </a:xfrm>
        </p:grpSpPr>
        <p:sp>
          <p:nvSpPr>
            <p:cNvPr id="25" name="object 25" descr=""/>
            <p:cNvSpPr/>
            <p:nvPr/>
          </p:nvSpPr>
          <p:spPr>
            <a:xfrm>
              <a:off x="600075" y="59340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00075" y="5934074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940692" y="6264274"/>
            <a:ext cx="17589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3F3C4E"/>
                </a:solidFill>
                <a:latin typeface="Cambria"/>
                <a:cs typeface="Cambria"/>
              </a:rPr>
              <a:t>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616075" y="6088062"/>
            <a:ext cx="147701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3F3C4E"/>
                </a:solidFill>
                <a:latin typeface="Cambria"/>
                <a:cs typeface="Cambria"/>
              </a:rPr>
              <a:t>F6ce</a:t>
            </a:r>
            <a:r>
              <a:rPr dirty="0" sz="1650" spc="160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65" b="1">
                <a:solidFill>
                  <a:srgbClr val="3F3C4E"/>
                </a:solidFill>
                <a:latin typeface="Cambria"/>
                <a:cs typeface="Cambria"/>
              </a:rPr>
              <a:t>Loc6tion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94717" y="6957417"/>
            <a:ext cx="868044" cy="1039494"/>
            <a:chOff x="594717" y="6957417"/>
            <a:chExt cx="868044" cy="1039494"/>
          </a:xfrm>
        </p:grpSpPr>
        <p:sp>
          <p:nvSpPr>
            <p:cNvPr id="30" name="object 30" descr=""/>
            <p:cNvSpPr/>
            <p:nvPr/>
          </p:nvSpPr>
          <p:spPr>
            <a:xfrm>
              <a:off x="600075" y="6962775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00075" y="6962775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936823" y="7292975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3F3C4E"/>
                </a:solidFill>
                <a:latin typeface="Cambria"/>
                <a:cs typeface="Cambria"/>
              </a:rPr>
              <a:t>6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16075" y="7116762"/>
            <a:ext cx="190881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 b="1">
                <a:solidFill>
                  <a:srgbClr val="3F3C4E"/>
                </a:solidFill>
                <a:latin typeface="Cambria"/>
                <a:cs typeface="Cambria"/>
              </a:rPr>
              <a:t>Recommend6tion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600075" y="8181975"/>
            <a:ext cx="5029200" cy="1009650"/>
            <a:chOff x="600075" y="8181975"/>
            <a:chExt cx="5029200" cy="1009650"/>
          </a:xfrm>
        </p:grpSpPr>
        <p:sp>
          <p:nvSpPr>
            <p:cNvPr id="35" name="object 35" descr=""/>
            <p:cNvSpPr/>
            <p:nvPr/>
          </p:nvSpPr>
          <p:spPr>
            <a:xfrm>
              <a:off x="604837" y="8186737"/>
              <a:ext cx="5019675" cy="1000125"/>
            </a:xfrm>
            <a:custGeom>
              <a:avLst/>
              <a:gdLst/>
              <a:ahLst/>
              <a:cxnLst/>
              <a:rect l="l" t="t" r="r" b="b"/>
              <a:pathLst>
                <a:path w="5019675" h="1000125">
                  <a:moveTo>
                    <a:pt x="49680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7" y="986510"/>
                  </a:lnTo>
                  <a:lnTo>
                    <a:pt x="51619" y="1000125"/>
                  </a:lnTo>
                  <a:lnTo>
                    <a:pt x="4968062" y="1000125"/>
                  </a:lnTo>
                  <a:lnTo>
                    <a:pt x="5006060" y="981379"/>
                  </a:lnTo>
                  <a:lnTo>
                    <a:pt x="5019675" y="948512"/>
                  </a:lnTo>
                  <a:lnTo>
                    <a:pt x="5019675" y="51612"/>
                  </a:lnTo>
                  <a:lnTo>
                    <a:pt x="5000929" y="13614"/>
                  </a:lnTo>
                  <a:lnTo>
                    <a:pt x="4971643" y="355"/>
                  </a:lnTo>
                  <a:lnTo>
                    <a:pt x="4968062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04837" y="8186737"/>
              <a:ext cx="5019675" cy="1000125"/>
            </a:xfrm>
            <a:custGeom>
              <a:avLst/>
              <a:gdLst/>
              <a:ahLst/>
              <a:cxnLst/>
              <a:rect l="l" t="t" r="r" b="b"/>
              <a:pathLst>
                <a:path w="50196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59"/>
                  </a:lnTo>
                  <a:lnTo>
                    <a:pt x="9311" y="24549"/>
                  </a:lnTo>
                  <a:lnTo>
                    <a:pt x="11325" y="2152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212" y="1066"/>
                  </a:lnTo>
                  <a:lnTo>
                    <a:pt x="4978768" y="1765"/>
                  </a:lnTo>
                  <a:lnTo>
                    <a:pt x="4982222" y="2819"/>
                  </a:lnTo>
                  <a:lnTo>
                    <a:pt x="4985575" y="4203"/>
                  </a:lnTo>
                  <a:lnTo>
                    <a:pt x="4988928" y="5588"/>
                  </a:lnTo>
                  <a:lnTo>
                    <a:pt x="4992103" y="7289"/>
                  </a:lnTo>
                  <a:lnTo>
                    <a:pt x="4995125" y="9309"/>
                  </a:lnTo>
                  <a:lnTo>
                    <a:pt x="4998135" y="11315"/>
                  </a:lnTo>
                  <a:lnTo>
                    <a:pt x="5018608" y="44462"/>
                  </a:lnTo>
                  <a:lnTo>
                    <a:pt x="5019319" y="48018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944880"/>
                  </a:lnTo>
                  <a:lnTo>
                    <a:pt x="5019675" y="948512"/>
                  </a:lnTo>
                  <a:lnTo>
                    <a:pt x="5019319" y="952093"/>
                  </a:lnTo>
                  <a:lnTo>
                    <a:pt x="5018608" y="955662"/>
                  </a:lnTo>
                  <a:lnTo>
                    <a:pt x="5017909" y="959218"/>
                  </a:lnTo>
                  <a:lnTo>
                    <a:pt x="4995125" y="990803"/>
                  </a:lnTo>
                  <a:lnTo>
                    <a:pt x="4992103" y="992822"/>
                  </a:lnTo>
                  <a:lnTo>
                    <a:pt x="4975199" y="999058"/>
                  </a:lnTo>
                  <a:lnTo>
                    <a:pt x="4971643" y="999769"/>
                  </a:lnTo>
                  <a:lnTo>
                    <a:pt x="4968062" y="1000125"/>
                  </a:lnTo>
                  <a:lnTo>
                    <a:pt x="4964430" y="1000125"/>
                  </a:lnTo>
                  <a:lnTo>
                    <a:pt x="55245" y="1000125"/>
                  </a:lnTo>
                  <a:lnTo>
                    <a:pt x="51619" y="1000125"/>
                  </a:lnTo>
                  <a:lnTo>
                    <a:pt x="48026" y="999769"/>
                  </a:lnTo>
                  <a:lnTo>
                    <a:pt x="44465" y="999058"/>
                  </a:lnTo>
                  <a:lnTo>
                    <a:pt x="40907" y="998359"/>
                  </a:lnTo>
                  <a:lnTo>
                    <a:pt x="24551" y="990803"/>
                  </a:lnTo>
                  <a:lnTo>
                    <a:pt x="21535" y="988796"/>
                  </a:lnTo>
                  <a:lnTo>
                    <a:pt x="9311" y="975563"/>
                  </a:lnTo>
                  <a:lnTo>
                    <a:pt x="7292" y="97255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768350" y="8345487"/>
            <a:ext cx="2703830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 b="1">
                <a:solidFill>
                  <a:srgbClr val="3F3C4E"/>
                </a:solidFill>
                <a:latin typeface="Cambria"/>
                <a:cs typeface="Cambria"/>
              </a:rPr>
              <a:t>Segment6tion</a:t>
            </a:r>
            <a:r>
              <a:rPr dirty="0" sz="1650" spc="50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90" b="1">
                <a:solidFill>
                  <a:srgbClr val="3F3C4E"/>
                </a:solidFill>
                <a:latin typeface="Cambria"/>
                <a:cs typeface="Cambria"/>
              </a:rPr>
              <a:t>Model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Generates</a:t>
            </a:r>
            <a:r>
              <a:rPr dirty="0" sz="1350" spc="7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the</a:t>
            </a:r>
            <a:r>
              <a:rPr dirty="0" sz="1350" spc="7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3F3C4E"/>
                </a:solidFill>
                <a:latin typeface="Trebuchet MS"/>
                <a:cs typeface="Trebuchet MS"/>
              </a:rPr>
              <a:t>initial</a:t>
            </a:r>
            <a:r>
              <a:rPr dirty="0" sz="1350" spc="7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binary</a:t>
            </a:r>
            <a:r>
              <a:rPr dirty="0" sz="1350" spc="7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mask.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5800725" y="8181975"/>
            <a:ext cx="5029200" cy="1009650"/>
            <a:chOff x="5800725" y="8181975"/>
            <a:chExt cx="5029200" cy="1009650"/>
          </a:xfrm>
        </p:grpSpPr>
        <p:sp>
          <p:nvSpPr>
            <p:cNvPr id="39" name="object 39" descr=""/>
            <p:cNvSpPr/>
            <p:nvPr/>
          </p:nvSpPr>
          <p:spPr>
            <a:xfrm>
              <a:off x="5805487" y="8186737"/>
              <a:ext cx="5019675" cy="1000125"/>
            </a:xfrm>
            <a:custGeom>
              <a:avLst/>
              <a:gdLst/>
              <a:ahLst/>
              <a:cxnLst/>
              <a:rect l="l" t="t" r="r" b="b"/>
              <a:pathLst>
                <a:path w="5019675" h="1000125">
                  <a:moveTo>
                    <a:pt x="49680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4968062" y="1000125"/>
                  </a:lnTo>
                  <a:lnTo>
                    <a:pt x="5006060" y="981379"/>
                  </a:lnTo>
                  <a:lnTo>
                    <a:pt x="5019675" y="948512"/>
                  </a:lnTo>
                  <a:lnTo>
                    <a:pt x="5019675" y="51612"/>
                  </a:lnTo>
                  <a:lnTo>
                    <a:pt x="5000929" y="13614"/>
                  </a:lnTo>
                  <a:lnTo>
                    <a:pt x="4971643" y="355"/>
                  </a:lnTo>
                  <a:lnTo>
                    <a:pt x="4968062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805487" y="8186737"/>
              <a:ext cx="5019675" cy="1000125"/>
            </a:xfrm>
            <a:custGeom>
              <a:avLst/>
              <a:gdLst/>
              <a:ahLst/>
              <a:cxnLst/>
              <a:rect l="l" t="t" r="r" b="b"/>
              <a:pathLst>
                <a:path w="50196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59"/>
                  </a:lnTo>
                  <a:lnTo>
                    <a:pt x="9309" y="24549"/>
                  </a:lnTo>
                  <a:lnTo>
                    <a:pt x="11328" y="21526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39" y="11315"/>
                  </a:lnTo>
                  <a:lnTo>
                    <a:pt x="24549" y="9309"/>
                  </a:lnTo>
                  <a:lnTo>
                    <a:pt x="27571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199" y="1066"/>
                  </a:lnTo>
                  <a:lnTo>
                    <a:pt x="4978768" y="1765"/>
                  </a:lnTo>
                  <a:lnTo>
                    <a:pt x="4982222" y="2819"/>
                  </a:lnTo>
                  <a:lnTo>
                    <a:pt x="4985562" y="4203"/>
                  </a:lnTo>
                  <a:lnTo>
                    <a:pt x="4988928" y="5588"/>
                  </a:lnTo>
                  <a:lnTo>
                    <a:pt x="4992103" y="7289"/>
                  </a:lnTo>
                  <a:lnTo>
                    <a:pt x="4995113" y="9309"/>
                  </a:lnTo>
                  <a:lnTo>
                    <a:pt x="4998135" y="11315"/>
                  </a:lnTo>
                  <a:lnTo>
                    <a:pt x="5000929" y="13614"/>
                  </a:lnTo>
                  <a:lnTo>
                    <a:pt x="5003495" y="16179"/>
                  </a:lnTo>
                  <a:lnTo>
                    <a:pt x="5006060" y="18745"/>
                  </a:lnTo>
                  <a:lnTo>
                    <a:pt x="5018608" y="44462"/>
                  </a:lnTo>
                  <a:lnTo>
                    <a:pt x="5019319" y="48018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944880"/>
                  </a:lnTo>
                  <a:lnTo>
                    <a:pt x="5019675" y="948512"/>
                  </a:lnTo>
                  <a:lnTo>
                    <a:pt x="5019319" y="952093"/>
                  </a:lnTo>
                  <a:lnTo>
                    <a:pt x="5018608" y="955662"/>
                  </a:lnTo>
                  <a:lnTo>
                    <a:pt x="5017909" y="959218"/>
                  </a:lnTo>
                  <a:lnTo>
                    <a:pt x="5003495" y="983945"/>
                  </a:lnTo>
                  <a:lnTo>
                    <a:pt x="5000929" y="986510"/>
                  </a:lnTo>
                  <a:lnTo>
                    <a:pt x="4998135" y="988796"/>
                  </a:lnTo>
                  <a:lnTo>
                    <a:pt x="4995113" y="990803"/>
                  </a:lnTo>
                  <a:lnTo>
                    <a:pt x="4992103" y="992822"/>
                  </a:lnTo>
                  <a:lnTo>
                    <a:pt x="4975199" y="999058"/>
                  </a:lnTo>
                  <a:lnTo>
                    <a:pt x="4971643" y="999769"/>
                  </a:lnTo>
                  <a:lnTo>
                    <a:pt x="4968062" y="1000125"/>
                  </a:lnTo>
                  <a:lnTo>
                    <a:pt x="496443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18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24549" y="990803"/>
                  </a:lnTo>
                  <a:lnTo>
                    <a:pt x="21539" y="988796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5969000" y="8345487"/>
            <a:ext cx="3766820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 b="1">
                <a:solidFill>
                  <a:srgbClr val="3F3C4E"/>
                </a:solidFill>
                <a:latin typeface="Cambria"/>
                <a:cs typeface="Cambria"/>
              </a:rPr>
              <a:t>EfficientNet</a:t>
            </a:r>
            <a:r>
              <a:rPr dirty="0" sz="1650" spc="4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3F3C4E"/>
                </a:solidFill>
                <a:latin typeface="Cambria"/>
                <a:cs typeface="Cambria"/>
              </a:rPr>
              <a:t>Cl6SSifieT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Specialized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for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6</a:t>
            </a:r>
            <a:r>
              <a:rPr dirty="0" sz="1350" spc="2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distinct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skin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condition</a:t>
            </a:r>
            <a:r>
              <a:rPr dirty="0" sz="1350" spc="2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classes.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28650" y="99631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628650" y="10296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46"/>
                </a:lnTo>
                <a:lnTo>
                  <a:pt x="32364" y="57146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628650" y="1062989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8"/>
                </a:lnTo>
                <a:lnTo>
                  <a:pt x="0" y="24789"/>
                </a:lnTo>
                <a:lnTo>
                  <a:pt x="0" y="32364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64"/>
                </a:lnTo>
                <a:lnTo>
                  <a:pt x="57150" y="28575"/>
                </a:lnTo>
                <a:lnTo>
                  <a:pt x="57150" y="24789"/>
                </a:lnTo>
                <a:lnTo>
                  <a:pt x="36010" y="728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628650" y="1097279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84"/>
                </a:lnTo>
                <a:lnTo>
                  <a:pt x="0" y="32364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64"/>
                </a:lnTo>
                <a:lnTo>
                  <a:pt x="57150" y="28575"/>
                </a:lnTo>
                <a:lnTo>
                  <a:pt x="57150" y="24784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587375" y="9398000"/>
            <a:ext cx="3507104" cy="17075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Fine-tuning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and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adjustments:</a:t>
            </a:r>
            <a:endParaRPr sz="1350">
              <a:latin typeface="Trebuchet MS"/>
              <a:cs typeface="Trebuchet MS"/>
            </a:endParaRPr>
          </a:p>
          <a:p>
            <a:pPr marL="286385" marR="888365">
              <a:lnSpc>
                <a:spcPct val="162000"/>
              </a:lnSpc>
              <a:spcBef>
                <a:spcPts val="105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Adaptive</a:t>
            </a:r>
            <a:r>
              <a:rPr dirty="0" sz="1350" spc="19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threshold</a:t>
            </a:r>
            <a:r>
              <a:rPr dirty="0" sz="1350" spc="19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tuning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Extensive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data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augmentation</a:t>
            </a:r>
            <a:endParaRPr sz="1350">
              <a:latin typeface="Trebuchet MS"/>
              <a:cs typeface="Trebuchet MS"/>
            </a:endParaRPr>
          </a:p>
          <a:p>
            <a:pPr marL="286385" marR="5080">
              <a:lnSpc>
                <a:spcPts val="2700"/>
              </a:lnSpc>
              <a:spcBef>
                <a:spcPts val="2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Hybrid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training: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synthetic</a:t>
            </a:r>
            <a:r>
              <a:rPr dirty="0" sz="1350" spc="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+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real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data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Validation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exclusively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85">
                <a:solidFill>
                  <a:srgbClr val="3F3C4E"/>
                </a:solidFill>
                <a:latin typeface="Trebuchet MS"/>
                <a:cs typeface="Trebuchet MS"/>
              </a:rPr>
              <a:t>on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real-world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data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47" name="object 47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110924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8858250"/>
            <a:chOff x="7143750" y="253"/>
            <a:chExt cx="4286250" cy="88582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8857996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834923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430212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D6t6</a:t>
            </a:r>
            <a:r>
              <a:rPr dirty="0" spc="80"/>
              <a:t> </a:t>
            </a:r>
            <a:r>
              <a:rPr dirty="0" spc="125"/>
              <a:t>Specific6tion</a:t>
            </a:r>
            <a:r>
              <a:rPr dirty="0" spc="80"/>
              <a:t> </a:t>
            </a:r>
            <a:r>
              <a:rPr dirty="0" spc="45"/>
              <a:t>&amp; </a:t>
            </a:r>
            <a:r>
              <a:rPr dirty="0" spc="35"/>
              <a:t>GeneT6tion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2543174"/>
            <a:ext cx="5943600" cy="1295400"/>
            <a:chOff x="600075" y="2543174"/>
            <a:chExt cx="5943600" cy="1295400"/>
          </a:xfrm>
        </p:grpSpPr>
        <p:sp>
          <p:nvSpPr>
            <p:cNvPr id="7" name="object 7" descr=""/>
            <p:cNvSpPr/>
            <p:nvPr/>
          </p:nvSpPr>
          <p:spPr>
            <a:xfrm>
              <a:off x="609600" y="2552699"/>
              <a:ext cx="5924550" cy="1276350"/>
            </a:xfrm>
            <a:custGeom>
              <a:avLst/>
              <a:gdLst/>
              <a:ahLst/>
              <a:cxnLst/>
              <a:rect l="l" t="t" r="r" b="b"/>
              <a:pathLst>
                <a:path w="5924550" h="1276350">
                  <a:moveTo>
                    <a:pt x="0" y="12258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91"/>
                  </a:lnTo>
                  <a:lnTo>
                    <a:pt x="972" y="40640"/>
                  </a:lnTo>
                  <a:lnTo>
                    <a:pt x="1616" y="37376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105"/>
                  </a:lnTo>
                  <a:lnTo>
                    <a:pt x="6667" y="25196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17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40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1225867"/>
                  </a:lnTo>
                  <a:lnTo>
                    <a:pt x="5924550" y="1229182"/>
                  </a:lnTo>
                  <a:lnTo>
                    <a:pt x="5924232" y="1232471"/>
                  </a:lnTo>
                  <a:lnTo>
                    <a:pt x="5923572" y="1235710"/>
                  </a:lnTo>
                  <a:lnTo>
                    <a:pt x="5922937" y="1238961"/>
                  </a:lnTo>
                  <a:lnTo>
                    <a:pt x="5921971" y="1242123"/>
                  </a:lnTo>
                  <a:lnTo>
                    <a:pt x="5920701" y="1245184"/>
                  </a:lnTo>
                  <a:lnTo>
                    <a:pt x="5919444" y="1248244"/>
                  </a:lnTo>
                  <a:lnTo>
                    <a:pt x="5902109" y="1267841"/>
                  </a:lnTo>
                  <a:lnTo>
                    <a:pt x="5899353" y="1269682"/>
                  </a:lnTo>
                  <a:lnTo>
                    <a:pt x="5883910" y="1275384"/>
                  </a:lnTo>
                  <a:lnTo>
                    <a:pt x="5880671" y="1276032"/>
                  </a:lnTo>
                  <a:lnTo>
                    <a:pt x="5877382" y="1276350"/>
                  </a:lnTo>
                  <a:lnTo>
                    <a:pt x="5874067" y="1276350"/>
                  </a:lnTo>
                  <a:lnTo>
                    <a:pt x="50482" y="1276350"/>
                  </a:lnTo>
                  <a:lnTo>
                    <a:pt x="47169" y="1276350"/>
                  </a:lnTo>
                  <a:lnTo>
                    <a:pt x="43884" y="1276032"/>
                  </a:lnTo>
                  <a:lnTo>
                    <a:pt x="40634" y="1275384"/>
                  </a:lnTo>
                  <a:lnTo>
                    <a:pt x="37381" y="1274737"/>
                  </a:lnTo>
                  <a:lnTo>
                    <a:pt x="8507" y="1253909"/>
                  </a:lnTo>
                  <a:lnTo>
                    <a:pt x="6667" y="1251153"/>
                  </a:lnTo>
                  <a:lnTo>
                    <a:pt x="5109" y="1248244"/>
                  </a:lnTo>
                  <a:lnTo>
                    <a:pt x="3844" y="1245184"/>
                  </a:lnTo>
                  <a:lnTo>
                    <a:pt x="2574" y="1242123"/>
                  </a:lnTo>
                  <a:lnTo>
                    <a:pt x="1616" y="1238961"/>
                  </a:lnTo>
                  <a:lnTo>
                    <a:pt x="972" y="1235710"/>
                  </a:lnTo>
                  <a:lnTo>
                    <a:pt x="322" y="1232471"/>
                  </a:lnTo>
                  <a:lnTo>
                    <a:pt x="0" y="1229182"/>
                  </a:lnTo>
                  <a:lnTo>
                    <a:pt x="0" y="1225867"/>
                  </a:lnTo>
                  <a:close/>
                </a:path>
              </a:pathLst>
            </a:custGeom>
            <a:ln w="19050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19125" y="2562224"/>
              <a:ext cx="681355" cy="1257300"/>
            </a:xfrm>
            <a:custGeom>
              <a:avLst/>
              <a:gdLst/>
              <a:ahLst/>
              <a:cxnLst/>
              <a:rect l="l" t="t" r="r" b="b"/>
              <a:pathLst>
                <a:path w="681355" h="1257300">
                  <a:moveTo>
                    <a:pt x="681037" y="0"/>
                  </a:moveTo>
                  <a:lnTo>
                    <a:pt x="35525" y="0"/>
                  </a:lnTo>
                  <a:lnTo>
                    <a:pt x="30300" y="1041"/>
                  </a:lnTo>
                  <a:lnTo>
                    <a:pt x="1036" y="30302"/>
                  </a:lnTo>
                  <a:lnTo>
                    <a:pt x="0" y="35521"/>
                  </a:lnTo>
                  <a:lnTo>
                    <a:pt x="0" y="1216342"/>
                  </a:lnTo>
                  <a:lnTo>
                    <a:pt x="0" y="1221778"/>
                  </a:lnTo>
                  <a:lnTo>
                    <a:pt x="30300" y="1256258"/>
                  </a:lnTo>
                  <a:lnTo>
                    <a:pt x="35525" y="1257300"/>
                  </a:lnTo>
                  <a:lnTo>
                    <a:pt x="681037" y="1257300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95400" y="2562224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9525" y="0"/>
                  </a:moveTo>
                  <a:lnTo>
                    <a:pt x="0" y="0"/>
                  </a:lnTo>
                  <a:lnTo>
                    <a:pt x="0" y="1257300"/>
                  </a:lnTo>
                  <a:lnTo>
                    <a:pt x="9525" y="12573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5BDB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/>
              <a:t>Constructing</a:t>
            </a:r>
            <a:r>
              <a:rPr dirty="0" spc="65"/>
              <a:t> </a:t>
            </a:r>
            <a:r>
              <a:rPr dirty="0"/>
              <a:t>a</a:t>
            </a:r>
            <a:r>
              <a:rPr dirty="0" spc="65"/>
              <a:t> </a:t>
            </a:r>
            <a:r>
              <a:rPr dirty="0"/>
              <a:t>robust</a:t>
            </a:r>
            <a:r>
              <a:rPr dirty="0" spc="70"/>
              <a:t> </a:t>
            </a:r>
            <a:r>
              <a:rPr dirty="0"/>
              <a:t>dataset</a:t>
            </a:r>
            <a:r>
              <a:rPr dirty="0" spc="65"/>
              <a:t> </a:t>
            </a:r>
            <a:r>
              <a:rPr dirty="0" spc="45"/>
              <a:t>through</a:t>
            </a:r>
            <a:r>
              <a:rPr dirty="0" spc="70"/>
              <a:t> </a:t>
            </a:r>
            <a:r>
              <a:rPr dirty="0"/>
              <a:t>real-world</a:t>
            </a:r>
            <a:r>
              <a:rPr dirty="0" spc="65"/>
              <a:t> </a:t>
            </a:r>
            <a:r>
              <a:rPr dirty="0" spc="-10"/>
              <a:t>collection</a:t>
            </a:r>
            <a:r>
              <a:rPr dirty="0" spc="65"/>
              <a:t> and</a:t>
            </a:r>
            <a:r>
              <a:rPr dirty="0" spc="70"/>
              <a:t> </a:t>
            </a:r>
            <a:r>
              <a:rPr dirty="0" spc="-10"/>
              <a:t>synthetic expansion.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90"/>
              </a:spcBef>
            </a:pPr>
          </a:p>
          <a:p>
            <a:pPr marL="889000">
              <a:lnSpc>
                <a:spcPct val="100000"/>
              </a:lnSpc>
              <a:spcBef>
                <a:spcPts val="5"/>
              </a:spcBef>
            </a:pPr>
            <a:r>
              <a:rPr dirty="0" sz="1650" spc="-70" b="1">
                <a:latin typeface="Cambria"/>
                <a:cs typeface="Cambria"/>
              </a:rPr>
              <a:t>Re61</a:t>
            </a:r>
            <a:r>
              <a:rPr dirty="0" sz="1650" spc="15" b="1">
                <a:latin typeface="Cambria"/>
                <a:cs typeface="Cambria"/>
              </a:rPr>
              <a:t> </a:t>
            </a:r>
            <a:r>
              <a:rPr dirty="0" sz="1650" spc="80" b="1">
                <a:latin typeface="Cambria"/>
                <a:cs typeface="Cambria"/>
              </a:rPr>
              <a:t>Seed</a:t>
            </a:r>
            <a:r>
              <a:rPr dirty="0" sz="1650" spc="20" b="1">
                <a:latin typeface="Cambria"/>
                <a:cs typeface="Cambria"/>
              </a:rPr>
              <a:t> </a:t>
            </a:r>
            <a:r>
              <a:rPr dirty="0" sz="1650" spc="-20" b="1">
                <a:latin typeface="Cambria"/>
                <a:cs typeface="Cambria"/>
              </a:rPr>
              <a:t>D6t6</a:t>
            </a:r>
            <a:endParaRPr sz="1650">
              <a:latin typeface="Cambria"/>
              <a:cs typeface="Cambria"/>
            </a:endParaRPr>
          </a:p>
          <a:p>
            <a:pPr marL="889000" marR="299720">
              <a:lnSpc>
                <a:spcPct val="134300"/>
              </a:lnSpc>
              <a:spcBef>
                <a:spcPts val="610"/>
              </a:spcBef>
            </a:pPr>
            <a:r>
              <a:rPr dirty="0" spc="55"/>
              <a:t>~20</a:t>
            </a:r>
            <a:r>
              <a:rPr dirty="0" spc="70"/>
              <a:t> </a:t>
            </a:r>
            <a:r>
              <a:rPr dirty="0"/>
              <a:t>clean</a:t>
            </a:r>
            <a:r>
              <a:rPr dirty="0" spc="70"/>
              <a:t> </a:t>
            </a:r>
            <a:r>
              <a:rPr dirty="0"/>
              <a:t>faces</a:t>
            </a:r>
            <a:r>
              <a:rPr dirty="0" spc="75"/>
              <a:t> </a:t>
            </a:r>
            <a:r>
              <a:rPr dirty="0"/>
              <a:t>per</a:t>
            </a:r>
            <a:r>
              <a:rPr dirty="0" spc="70"/>
              <a:t> </a:t>
            </a:r>
            <a:r>
              <a:rPr dirty="0"/>
              <a:t>class.</a:t>
            </a:r>
            <a:r>
              <a:rPr dirty="0" spc="75"/>
              <a:t> </a:t>
            </a:r>
            <a:r>
              <a:rPr dirty="0"/>
              <a:t>Provides</a:t>
            </a:r>
            <a:r>
              <a:rPr dirty="0" spc="70"/>
              <a:t> </a:t>
            </a:r>
            <a:r>
              <a:rPr dirty="0"/>
              <a:t>foundational</a:t>
            </a:r>
            <a:r>
              <a:rPr dirty="0" spc="75"/>
              <a:t> </a:t>
            </a:r>
            <a:r>
              <a:rPr dirty="0"/>
              <a:t>real-</a:t>
            </a:r>
            <a:r>
              <a:rPr dirty="0" spc="-10"/>
              <a:t>world </a:t>
            </a:r>
            <a:r>
              <a:rPr dirty="0"/>
              <a:t>examples</a:t>
            </a:r>
            <a:r>
              <a:rPr dirty="0" spc="135"/>
              <a:t> </a:t>
            </a:r>
            <a:r>
              <a:rPr dirty="0"/>
              <a:t>for</a:t>
            </a:r>
            <a:r>
              <a:rPr dirty="0" spc="140"/>
              <a:t> </a:t>
            </a:r>
            <a:r>
              <a:rPr dirty="0"/>
              <a:t>model</a:t>
            </a:r>
            <a:r>
              <a:rPr dirty="0" spc="140"/>
              <a:t> </a:t>
            </a:r>
            <a:r>
              <a:rPr dirty="0" spc="-10"/>
              <a:t>training.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600075" y="4010024"/>
            <a:ext cx="5943600" cy="1304925"/>
            <a:chOff x="600075" y="4010024"/>
            <a:chExt cx="5943600" cy="1304925"/>
          </a:xfrm>
        </p:grpSpPr>
        <p:sp>
          <p:nvSpPr>
            <p:cNvPr id="12" name="object 12" descr=""/>
            <p:cNvSpPr/>
            <p:nvPr/>
          </p:nvSpPr>
          <p:spPr>
            <a:xfrm>
              <a:off x="609600" y="4019549"/>
              <a:ext cx="5924550" cy="1285875"/>
            </a:xfrm>
            <a:custGeom>
              <a:avLst/>
              <a:gdLst/>
              <a:ahLst/>
              <a:cxnLst/>
              <a:rect l="l" t="t" r="r" b="b"/>
              <a:pathLst>
                <a:path w="5924550" h="1285875">
                  <a:moveTo>
                    <a:pt x="0" y="12353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91"/>
                  </a:lnTo>
                  <a:lnTo>
                    <a:pt x="972" y="40627"/>
                  </a:lnTo>
                  <a:lnTo>
                    <a:pt x="1616" y="37376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105"/>
                  </a:lnTo>
                  <a:lnTo>
                    <a:pt x="6667" y="25196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17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1235392"/>
                  </a:lnTo>
                  <a:lnTo>
                    <a:pt x="5924550" y="1238707"/>
                  </a:lnTo>
                  <a:lnTo>
                    <a:pt x="5924232" y="1241996"/>
                  </a:lnTo>
                  <a:lnTo>
                    <a:pt x="5923572" y="1245235"/>
                  </a:lnTo>
                  <a:lnTo>
                    <a:pt x="5922937" y="1248486"/>
                  </a:lnTo>
                  <a:lnTo>
                    <a:pt x="5921971" y="1251648"/>
                  </a:lnTo>
                  <a:lnTo>
                    <a:pt x="5920701" y="1254709"/>
                  </a:lnTo>
                  <a:lnTo>
                    <a:pt x="5919444" y="1257769"/>
                  </a:lnTo>
                  <a:lnTo>
                    <a:pt x="5902109" y="1277366"/>
                  </a:lnTo>
                  <a:lnTo>
                    <a:pt x="5899353" y="1279207"/>
                  </a:lnTo>
                  <a:lnTo>
                    <a:pt x="5877382" y="1285875"/>
                  </a:lnTo>
                  <a:lnTo>
                    <a:pt x="5874067" y="1285875"/>
                  </a:lnTo>
                  <a:lnTo>
                    <a:pt x="50482" y="1285875"/>
                  </a:lnTo>
                  <a:lnTo>
                    <a:pt x="47169" y="1285875"/>
                  </a:lnTo>
                  <a:lnTo>
                    <a:pt x="43884" y="1285544"/>
                  </a:lnTo>
                  <a:lnTo>
                    <a:pt x="10347" y="1266190"/>
                  </a:lnTo>
                  <a:lnTo>
                    <a:pt x="8507" y="1263434"/>
                  </a:lnTo>
                  <a:lnTo>
                    <a:pt x="6667" y="1260678"/>
                  </a:lnTo>
                  <a:lnTo>
                    <a:pt x="5109" y="1257769"/>
                  </a:lnTo>
                  <a:lnTo>
                    <a:pt x="3844" y="1254709"/>
                  </a:lnTo>
                  <a:lnTo>
                    <a:pt x="2574" y="1251648"/>
                  </a:lnTo>
                  <a:lnTo>
                    <a:pt x="1616" y="1248486"/>
                  </a:lnTo>
                  <a:lnTo>
                    <a:pt x="972" y="1245235"/>
                  </a:lnTo>
                  <a:lnTo>
                    <a:pt x="322" y="1241996"/>
                  </a:lnTo>
                  <a:lnTo>
                    <a:pt x="0" y="1238707"/>
                  </a:lnTo>
                  <a:lnTo>
                    <a:pt x="0" y="1235392"/>
                  </a:lnTo>
                  <a:close/>
                </a:path>
              </a:pathLst>
            </a:custGeom>
            <a:ln w="19050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9125" y="4029074"/>
              <a:ext cx="681355" cy="1266825"/>
            </a:xfrm>
            <a:custGeom>
              <a:avLst/>
              <a:gdLst/>
              <a:ahLst/>
              <a:cxnLst/>
              <a:rect l="l" t="t" r="r" b="b"/>
              <a:pathLst>
                <a:path w="681355" h="1266825">
                  <a:moveTo>
                    <a:pt x="681037" y="0"/>
                  </a:moveTo>
                  <a:lnTo>
                    <a:pt x="35525" y="0"/>
                  </a:lnTo>
                  <a:lnTo>
                    <a:pt x="30300" y="1041"/>
                  </a:lnTo>
                  <a:lnTo>
                    <a:pt x="1036" y="30302"/>
                  </a:lnTo>
                  <a:lnTo>
                    <a:pt x="0" y="35521"/>
                  </a:lnTo>
                  <a:lnTo>
                    <a:pt x="0" y="1225867"/>
                  </a:lnTo>
                  <a:lnTo>
                    <a:pt x="0" y="1231290"/>
                  </a:lnTo>
                  <a:lnTo>
                    <a:pt x="30300" y="1265783"/>
                  </a:lnTo>
                  <a:lnTo>
                    <a:pt x="35525" y="1266825"/>
                  </a:lnTo>
                  <a:lnTo>
                    <a:pt x="681037" y="1266825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95400" y="4029074"/>
              <a:ext cx="9525" cy="1266825"/>
            </a:xfrm>
            <a:custGeom>
              <a:avLst/>
              <a:gdLst/>
              <a:ahLst/>
              <a:cxnLst/>
              <a:rect l="l" t="t" r="r" b="b"/>
              <a:pathLst>
                <a:path w="9525" h="1266825">
                  <a:moveTo>
                    <a:pt x="9525" y="0"/>
                  </a:moveTo>
                  <a:lnTo>
                    <a:pt x="0" y="0"/>
                  </a:lnTo>
                  <a:lnTo>
                    <a:pt x="0" y="1266825"/>
                  </a:lnTo>
                  <a:lnTo>
                    <a:pt x="9525" y="12668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5BDB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63675" y="4183062"/>
            <a:ext cx="472059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 b="1">
                <a:solidFill>
                  <a:srgbClr val="3F3C4E"/>
                </a:solidFill>
                <a:latin typeface="Cambria"/>
                <a:cs typeface="Cambria"/>
              </a:rPr>
              <a:t>Synthetic</a:t>
            </a:r>
            <a:r>
              <a:rPr dirty="0" sz="1650" spc="70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-20" b="1">
                <a:solidFill>
                  <a:srgbClr val="3F3C4E"/>
                </a:solidFill>
                <a:latin typeface="Cambria"/>
                <a:cs typeface="Cambria"/>
              </a:rPr>
              <a:t>D6t6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~1000</a:t>
            </a:r>
            <a:r>
              <a:rPr dirty="0" sz="1350" spc="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samples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per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class.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Generated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via</a:t>
            </a:r>
            <a:r>
              <a:rPr dirty="0" sz="1350" spc="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inpainting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and</a:t>
            </a:r>
            <a:r>
              <a:rPr dirty="0" sz="1350" spc="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3F3C4E"/>
                </a:solidFill>
                <a:latin typeface="Trebuchet MS"/>
                <a:cs typeface="Trebuchet MS"/>
              </a:rPr>
              <a:t>full-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image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generation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to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ensure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class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balance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and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diversity.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0075" y="5486399"/>
            <a:ext cx="5943600" cy="1295400"/>
            <a:chOff x="600075" y="5486399"/>
            <a:chExt cx="5943600" cy="1295400"/>
          </a:xfrm>
        </p:grpSpPr>
        <p:sp>
          <p:nvSpPr>
            <p:cNvPr id="17" name="object 17" descr=""/>
            <p:cNvSpPr/>
            <p:nvPr/>
          </p:nvSpPr>
          <p:spPr>
            <a:xfrm>
              <a:off x="609600" y="5495924"/>
              <a:ext cx="5924550" cy="1276350"/>
            </a:xfrm>
            <a:custGeom>
              <a:avLst/>
              <a:gdLst/>
              <a:ahLst/>
              <a:cxnLst/>
              <a:rect l="l" t="t" r="r" b="b"/>
              <a:pathLst>
                <a:path w="5924550" h="1276350">
                  <a:moveTo>
                    <a:pt x="0" y="12258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91"/>
                  </a:lnTo>
                  <a:lnTo>
                    <a:pt x="972" y="40627"/>
                  </a:lnTo>
                  <a:lnTo>
                    <a:pt x="1616" y="37376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105"/>
                  </a:lnTo>
                  <a:lnTo>
                    <a:pt x="6667" y="25196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17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1225867"/>
                  </a:lnTo>
                  <a:lnTo>
                    <a:pt x="5924550" y="1229182"/>
                  </a:lnTo>
                  <a:lnTo>
                    <a:pt x="5924232" y="1232458"/>
                  </a:lnTo>
                  <a:lnTo>
                    <a:pt x="5923572" y="1235710"/>
                  </a:lnTo>
                  <a:lnTo>
                    <a:pt x="5922937" y="1238961"/>
                  </a:lnTo>
                  <a:lnTo>
                    <a:pt x="5921971" y="1242123"/>
                  </a:lnTo>
                  <a:lnTo>
                    <a:pt x="5920701" y="1245184"/>
                  </a:lnTo>
                  <a:lnTo>
                    <a:pt x="5919444" y="1248244"/>
                  </a:lnTo>
                  <a:lnTo>
                    <a:pt x="5902109" y="1267841"/>
                  </a:lnTo>
                  <a:lnTo>
                    <a:pt x="5899353" y="1269682"/>
                  </a:lnTo>
                  <a:lnTo>
                    <a:pt x="5877382" y="1276350"/>
                  </a:lnTo>
                  <a:lnTo>
                    <a:pt x="5874067" y="1276350"/>
                  </a:lnTo>
                  <a:lnTo>
                    <a:pt x="50482" y="1276350"/>
                  </a:lnTo>
                  <a:lnTo>
                    <a:pt x="47169" y="1276350"/>
                  </a:lnTo>
                  <a:lnTo>
                    <a:pt x="43884" y="1276032"/>
                  </a:lnTo>
                  <a:lnTo>
                    <a:pt x="40634" y="1275384"/>
                  </a:lnTo>
                  <a:lnTo>
                    <a:pt x="37381" y="1274737"/>
                  </a:lnTo>
                  <a:lnTo>
                    <a:pt x="6667" y="1251153"/>
                  </a:lnTo>
                  <a:lnTo>
                    <a:pt x="3844" y="1245184"/>
                  </a:lnTo>
                  <a:lnTo>
                    <a:pt x="2574" y="1242123"/>
                  </a:lnTo>
                  <a:lnTo>
                    <a:pt x="1616" y="1238961"/>
                  </a:lnTo>
                  <a:lnTo>
                    <a:pt x="972" y="1235710"/>
                  </a:lnTo>
                  <a:lnTo>
                    <a:pt x="322" y="1232458"/>
                  </a:lnTo>
                  <a:lnTo>
                    <a:pt x="0" y="1229182"/>
                  </a:lnTo>
                  <a:lnTo>
                    <a:pt x="0" y="1225867"/>
                  </a:lnTo>
                  <a:close/>
                </a:path>
              </a:pathLst>
            </a:custGeom>
            <a:ln w="19050">
              <a:solidFill>
                <a:srgbClr val="E5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19125" y="5505449"/>
              <a:ext cx="681355" cy="1257300"/>
            </a:xfrm>
            <a:custGeom>
              <a:avLst/>
              <a:gdLst/>
              <a:ahLst/>
              <a:cxnLst/>
              <a:rect l="l" t="t" r="r" b="b"/>
              <a:pathLst>
                <a:path w="681355" h="1257300">
                  <a:moveTo>
                    <a:pt x="681037" y="0"/>
                  </a:moveTo>
                  <a:lnTo>
                    <a:pt x="35525" y="0"/>
                  </a:lnTo>
                  <a:lnTo>
                    <a:pt x="30300" y="1041"/>
                  </a:lnTo>
                  <a:lnTo>
                    <a:pt x="1036" y="30302"/>
                  </a:lnTo>
                  <a:lnTo>
                    <a:pt x="0" y="35521"/>
                  </a:lnTo>
                  <a:lnTo>
                    <a:pt x="0" y="1216342"/>
                  </a:lnTo>
                  <a:lnTo>
                    <a:pt x="0" y="1221778"/>
                  </a:lnTo>
                  <a:lnTo>
                    <a:pt x="30300" y="1256258"/>
                  </a:lnTo>
                  <a:lnTo>
                    <a:pt x="35525" y="1257300"/>
                  </a:lnTo>
                  <a:lnTo>
                    <a:pt x="681037" y="1257300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95400" y="5505449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9525" y="0"/>
                  </a:moveTo>
                  <a:lnTo>
                    <a:pt x="0" y="0"/>
                  </a:lnTo>
                  <a:lnTo>
                    <a:pt x="0" y="1257300"/>
                  </a:lnTo>
                  <a:lnTo>
                    <a:pt x="9525" y="12573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5BDB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463675" y="5659437"/>
            <a:ext cx="468376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3F3C4E"/>
                </a:solidFill>
                <a:latin typeface="Cambria"/>
                <a:cs typeface="Cambria"/>
              </a:rPr>
              <a:t>Re61</a:t>
            </a:r>
            <a:r>
              <a:rPr dirty="0" sz="1650" spc="-2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b="1">
                <a:solidFill>
                  <a:srgbClr val="3F3C4E"/>
                </a:solidFill>
                <a:latin typeface="Cambria"/>
                <a:cs typeface="Cambria"/>
              </a:rPr>
              <a:t>Ev61U6tion</a:t>
            </a:r>
            <a:r>
              <a:rPr dirty="0" sz="1650" spc="-20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70" b="1">
                <a:solidFill>
                  <a:srgbClr val="3F3C4E"/>
                </a:solidFill>
                <a:latin typeface="Cambria"/>
                <a:cs typeface="Cambria"/>
              </a:rPr>
              <a:t>Set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114">
                <a:solidFill>
                  <a:srgbClr val="3F3C4E"/>
                </a:solidFill>
                <a:latin typeface="Trebuchet MS"/>
                <a:cs typeface="Trebuchet MS"/>
              </a:rPr>
              <a:t>100%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real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images,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meticulously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annotated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with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70">
                <a:solidFill>
                  <a:srgbClr val="3F3C4E"/>
                </a:solidFill>
                <a:latin typeface="Trebuchet MS"/>
                <a:cs typeface="Trebuchet MS"/>
              </a:rPr>
              <a:t>masks</a:t>
            </a:r>
            <a:r>
              <a:rPr dirty="0" sz="1350" spc="3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and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class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labels.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70">
                <a:solidFill>
                  <a:srgbClr val="3F3C4E"/>
                </a:solidFill>
                <a:latin typeface="Trebuchet MS"/>
                <a:cs typeface="Trebuchet MS"/>
              </a:rPr>
              <a:t>Used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for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unbiased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performance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assessment.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00075" y="6981825"/>
            <a:ext cx="5943600" cy="1400175"/>
            <a:chOff x="600075" y="6981825"/>
            <a:chExt cx="5943600" cy="1400175"/>
          </a:xfrm>
        </p:grpSpPr>
        <p:sp>
          <p:nvSpPr>
            <p:cNvPr id="22" name="object 22" descr=""/>
            <p:cNvSpPr/>
            <p:nvPr/>
          </p:nvSpPr>
          <p:spPr>
            <a:xfrm>
              <a:off x="600075" y="6981825"/>
              <a:ext cx="5943600" cy="1400175"/>
            </a:xfrm>
            <a:custGeom>
              <a:avLst/>
              <a:gdLst/>
              <a:ahLst/>
              <a:cxnLst/>
              <a:rect l="l" t="t" r="r" b="b"/>
              <a:pathLst>
                <a:path w="5943600" h="1400175">
                  <a:moveTo>
                    <a:pt x="5887529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340168"/>
                  </a:lnTo>
                  <a:lnTo>
                    <a:pt x="0" y="1344107"/>
                  </a:lnTo>
                  <a:lnTo>
                    <a:pt x="14789" y="1379811"/>
                  </a:lnTo>
                  <a:lnTo>
                    <a:pt x="52163" y="1399788"/>
                  </a:lnTo>
                  <a:lnTo>
                    <a:pt x="56067" y="1400176"/>
                  </a:lnTo>
                  <a:lnTo>
                    <a:pt x="5887529" y="1400176"/>
                  </a:lnTo>
                  <a:lnTo>
                    <a:pt x="5923229" y="1385382"/>
                  </a:lnTo>
                  <a:lnTo>
                    <a:pt x="5943219" y="1348007"/>
                  </a:lnTo>
                  <a:lnTo>
                    <a:pt x="5943600" y="1344107"/>
                  </a:lnTo>
                  <a:lnTo>
                    <a:pt x="5943600" y="56070"/>
                  </a:lnTo>
                  <a:lnTo>
                    <a:pt x="5928817" y="20358"/>
                  </a:lnTo>
                  <a:lnTo>
                    <a:pt x="5891441" y="381"/>
                  </a:lnTo>
                  <a:lnTo>
                    <a:pt x="5887529" y="0"/>
                  </a:lnTo>
                  <a:close/>
                </a:path>
              </a:pathLst>
            </a:custGeom>
            <a:solidFill>
              <a:srgbClr val="FFC4B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1709" y="7223823"/>
              <a:ext cx="187523" cy="187515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238250" y="7743837"/>
              <a:ext cx="57150" cy="390525"/>
            </a:xfrm>
            <a:custGeom>
              <a:avLst/>
              <a:gdLst/>
              <a:ahLst/>
              <a:cxnLst/>
              <a:rect l="l" t="t" r="r" b="b"/>
              <a:pathLst>
                <a:path w="57150" h="390525">
                  <a:moveTo>
                    <a:pt x="57150" y="358152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52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52"/>
                  </a:lnTo>
                  <a:close/>
                </a:path>
                <a:path w="57150" h="390525">
                  <a:moveTo>
                    <a:pt x="57150" y="24777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198166" y="7173912"/>
            <a:ext cx="4639945" cy="10363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 b="1">
                <a:latin typeface="Cambria"/>
                <a:cs typeface="Cambria"/>
              </a:rPr>
              <a:t>Dataset</a:t>
            </a:r>
            <a:r>
              <a:rPr dirty="0" sz="1650" spc="35" b="1">
                <a:latin typeface="Cambria"/>
                <a:cs typeface="Cambria"/>
              </a:rPr>
              <a:t> </a:t>
            </a:r>
            <a:r>
              <a:rPr dirty="0" sz="1650" spc="55" b="1">
                <a:latin typeface="Cambria"/>
                <a:cs typeface="Cambria"/>
              </a:rPr>
              <a:t>Requirements:</a:t>
            </a:r>
            <a:endParaRPr sz="165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1695"/>
              </a:spcBef>
            </a:pPr>
            <a:r>
              <a:rPr dirty="0" sz="1350">
                <a:latin typeface="Trebuchet MS"/>
                <a:cs typeface="Trebuchet MS"/>
              </a:rPr>
              <a:t>Balanced</a:t>
            </a:r>
            <a:r>
              <a:rPr dirty="0" sz="1350" spc="145">
                <a:latin typeface="Trebuchet MS"/>
                <a:cs typeface="Trebuchet MS"/>
              </a:rPr>
              <a:t> </a:t>
            </a:r>
            <a:r>
              <a:rPr dirty="0" sz="1350">
                <a:latin typeface="Trebuchet MS"/>
                <a:cs typeface="Trebuchet MS"/>
              </a:rPr>
              <a:t>class</a:t>
            </a:r>
            <a:r>
              <a:rPr dirty="0" sz="1350" spc="150">
                <a:latin typeface="Trebuchet MS"/>
                <a:cs typeface="Trebuchet MS"/>
              </a:rPr>
              <a:t> </a:t>
            </a:r>
            <a:r>
              <a:rPr dirty="0" sz="1350" spc="-10">
                <a:latin typeface="Trebuchet MS"/>
                <a:cs typeface="Trebuchet MS"/>
              </a:rPr>
              <a:t>distribution</a:t>
            </a:r>
            <a:endParaRPr sz="13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>
                <a:latin typeface="Trebuchet MS"/>
                <a:cs typeface="Trebuchet MS"/>
              </a:rPr>
              <a:t>High</a:t>
            </a:r>
            <a:r>
              <a:rPr dirty="0" sz="1350" spc="-20">
                <a:latin typeface="Trebuchet MS"/>
                <a:cs typeface="Trebuchet MS"/>
              </a:rPr>
              <a:t> </a:t>
            </a:r>
            <a:r>
              <a:rPr dirty="0" sz="1350">
                <a:latin typeface="Trebuchet MS"/>
                <a:cs typeface="Trebuchet MS"/>
              </a:rPr>
              <a:t>variation</a:t>
            </a:r>
            <a:r>
              <a:rPr dirty="0" sz="1350" spc="-15">
                <a:latin typeface="Trebuchet MS"/>
                <a:cs typeface="Trebuchet MS"/>
              </a:rPr>
              <a:t> </a:t>
            </a:r>
            <a:r>
              <a:rPr dirty="0" sz="1350">
                <a:latin typeface="Trebuchet MS"/>
                <a:cs typeface="Trebuchet MS"/>
              </a:rPr>
              <a:t>in</a:t>
            </a:r>
            <a:r>
              <a:rPr dirty="0" sz="1350" spc="-20">
                <a:latin typeface="Trebuchet MS"/>
                <a:cs typeface="Trebuchet MS"/>
              </a:rPr>
              <a:t> </a:t>
            </a:r>
            <a:r>
              <a:rPr dirty="0" sz="1350" spc="-10">
                <a:latin typeface="Trebuchet MS"/>
                <a:cs typeface="Trebuchet MS"/>
              </a:rPr>
              <a:t>lighting,</a:t>
            </a:r>
            <a:r>
              <a:rPr dirty="0" sz="1350" spc="-15">
                <a:latin typeface="Trebuchet MS"/>
                <a:cs typeface="Trebuchet MS"/>
              </a:rPr>
              <a:t> </a:t>
            </a:r>
            <a:r>
              <a:rPr dirty="0" sz="1350">
                <a:latin typeface="Trebuchet MS"/>
                <a:cs typeface="Trebuchet MS"/>
              </a:rPr>
              <a:t>skin</a:t>
            </a:r>
            <a:r>
              <a:rPr dirty="0" sz="1350" spc="-20">
                <a:latin typeface="Trebuchet MS"/>
                <a:cs typeface="Trebuchet MS"/>
              </a:rPr>
              <a:t> </a:t>
            </a:r>
            <a:r>
              <a:rPr dirty="0" sz="1350">
                <a:latin typeface="Trebuchet MS"/>
                <a:cs typeface="Trebuchet MS"/>
              </a:rPr>
              <a:t>tone,</a:t>
            </a:r>
            <a:r>
              <a:rPr dirty="0" sz="1350" spc="-15">
                <a:latin typeface="Trebuchet MS"/>
                <a:cs typeface="Trebuchet MS"/>
              </a:rPr>
              <a:t> </a:t>
            </a:r>
            <a:r>
              <a:rPr dirty="0" sz="1350">
                <a:latin typeface="Trebuchet MS"/>
                <a:cs typeface="Trebuchet MS"/>
              </a:rPr>
              <a:t>angle,</a:t>
            </a:r>
            <a:r>
              <a:rPr dirty="0" sz="1350" spc="-20">
                <a:latin typeface="Trebuchet MS"/>
                <a:cs typeface="Trebuchet MS"/>
              </a:rPr>
              <a:t> </a:t>
            </a:r>
            <a:r>
              <a:rPr dirty="0" sz="1350" spc="65">
                <a:latin typeface="Trebuchet MS"/>
                <a:cs typeface="Trebuchet MS"/>
              </a:rPr>
              <a:t>and</a:t>
            </a:r>
            <a:r>
              <a:rPr dirty="0" sz="1350" spc="-15">
                <a:latin typeface="Trebuchet MS"/>
                <a:cs typeface="Trebuchet MS"/>
              </a:rPr>
              <a:t> </a:t>
            </a:r>
            <a:r>
              <a:rPr dirty="0" sz="1350" spc="-10">
                <a:latin typeface="Trebuchet MS"/>
                <a:cs typeface="Trebuchet MS"/>
              </a:rPr>
              <a:t>severity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606425"/>
            <a:ext cx="31661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65"/>
              <a:t>Metrics</a:t>
            </a:r>
            <a:r>
              <a:rPr dirty="0" spc="75"/>
              <a:t> </a:t>
            </a:r>
            <a:r>
              <a:rPr dirty="0" spc="95"/>
              <a:t>&amp;</a:t>
            </a:r>
            <a:r>
              <a:rPr dirty="0" spc="75"/>
              <a:t> </a:t>
            </a:r>
            <a:r>
              <a:rPr dirty="0" spc="150"/>
              <a:t>KPIs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1435100"/>
            <a:ext cx="47834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Rigorous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 evaluation to 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ensure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 model 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efficacy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and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reliability.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28650" y="2609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28650" y="2943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28650" y="3276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28650" y="4162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28650" y="44958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28650" y="4829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87375" y="2039937"/>
            <a:ext cx="2600325" cy="2922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 b="1">
                <a:solidFill>
                  <a:srgbClr val="3F3C4E"/>
                </a:solidFill>
                <a:latin typeface="Cambria"/>
                <a:cs typeface="Cambria"/>
              </a:rPr>
              <a:t>Detection</a:t>
            </a:r>
            <a:r>
              <a:rPr dirty="0" sz="1650" spc="7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F3C4E"/>
                </a:solidFill>
                <a:latin typeface="Cambria"/>
                <a:cs typeface="Cambria"/>
              </a:rPr>
              <a:t>Metrics</a:t>
            </a:r>
            <a:endParaRPr sz="1650">
              <a:latin typeface="Cambria"/>
              <a:cs typeface="Cambria"/>
            </a:endParaRPr>
          </a:p>
          <a:p>
            <a:pPr marL="286385" marR="5080">
              <a:lnSpc>
                <a:spcPct val="162000"/>
              </a:lnSpc>
              <a:spcBef>
                <a:spcPts val="69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Intersection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over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Union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(IoU)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Dice</a:t>
            </a:r>
            <a:r>
              <a:rPr dirty="0" sz="1350" spc="4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Score</a:t>
            </a:r>
            <a:endParaRPr sz="13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Pixel</a:t>
            </a:r>
            <a:r>
              <a:rPr dirty="0" sz="1350" spc="-9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Accuracy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50" spc="75" b="1">
                <a:solidFill>
                  <a:srgbClr val="3F3C4E"/>
                </a:solidFill>
                <a:latin typeface="Cambria"/>
                <a:cs typeface="Cambria"/>
              </a:rPr>
              <a:t>Classification</a:t>
            </a:r>
            <a:r>
              <a:rPr dirty="0" sz="1650" spc="5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F3C4E"/>
                </a:solidFill>
                <a:latin typeface="Cambria"/>
                <a:cs typeface="Cambria"/>
              </a:rPr>
              <a:t>Metrics</a:t>
            </a:r>
            <a:endParaRPr sz="165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1695"/>
              </a:spcBef>
            </a:pP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Accuracy</a:t>
            </a:r>
            <a:endParaRPr sz="1350">
              <a:latin typeface="Trebuchet MS"/>
              <a:cs typeface="Trebuchet MS"/>
            </a:endParaRPr>
          </a:p>
          <a:p>
            <a:pPr marL="286385" marR="120014">
              <a:lnSpc>
                <a:spcPct val="162000"/>
              </a:lnSpc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Precision </a:t>
            </a:r>
            <a:r>
              <a:rPr dirty="0" sz="1350" spc="-229">
                <a:solidFill>
                  <a:srgbClr val="3F3C4E"/>
                </a:solidFill>
                <a:latin typeface="Trebuchet MS"/>
                <a:cs typeface="Trebuchet MS"/>
              </a:rPr>
              <a:t>/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Recall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29">
                <a:solidFill>
                  <a:srgbClr val="3F3C4E"/>
                </a:solidFill>
                <a:latin typeface="Trebuchet MS"/>
                <a:cs typeface="Trebuchet MS"/>
              </a:rPr>
              <a:t>/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F1-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Score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Confusion</a:t>
            </a:r>
            <a:r>
              <a:rPr dirty="0" sz="1350" spc="18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F3C4E"/>
                </a:solidFill>
                <a:latin typeface="Trebuchet MS"/>
                <a:cs typeface="Trebuchet MS"/>
              </a:rPr>
              <a:t>Matrix</a:t>
            </a:r>
            <a:r>
              <a:rPr dirty="0" sz="1350" spc="18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analysis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819525" y="2609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819525" y="3219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3819525" y="43815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819525" y="4714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3819525" y="532447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84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17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F3C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777804" y="2039937"/>
            <a:ext cx="2539365" cy="3684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5" b="1">
                <a:solidFill>
                  <a:srgbClr val="3F3C4E"/>
                </a:solidFill>
                <a:latin typeface="Cambria"/>
                <a:cs typeface="Cambria"/>
              </a:rPr>
              <a:t>End-</a:t>
            </a:r>
            <a:r>
              <a:rPr dirty="0" sz="1650" spc="105" b="1">
                <a:solidFill>
                  <a:srgbClr val="3F3C4E"/>
                </a:solidFill>
                <a:latin typeface="Cambria"/>
                <a:cs typeface="Cambria"/>
              </a:rPr>
              <a:t>to-End</a:t>
            </a:r>
            <a:r>
              <a:rPr dirty="0" sz="1650" spc="55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F3C4E"/>
                </a:solidFill>
                <a:latin typeface="Cambria"/>
                <a:cs typeface="Cambria"/>
              </a:rPr>
              <a:t>Metrics</a:t>
            </a:r>
            <a:endParaRPr sz="1650">
              <a:latin typeface="Cambria"/>
              <a:cs typeface="Cambria"/>
            </a:endParaRPr>
          </a:p>
          <a:p>
            <a:pPr marL="286385" marR="105410">
              <a:lnSpc>
                <a:spcPct val="134300"/>
              </a:lnSpc>
              <a:spcBef>
                <a:spcPts val="114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Correct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detection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+</a:t>
            </a:r>
            <a:r>
              <a:rPr dirty="0" sz="1350" spc="-1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correct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classification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per</a:t>
            </a:r>
            <a:r>
              <a:rPr dirty="0" sz="1350" spc="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region</a:t>
            </a:r>
            <a:endParaRPr sz="1350">
              <a:latin typeface="Trebuchet MS"/>
              <a:cs typeface="Trebuchet MS"/>
            </a:endParaRPr>
          </a:p>
          <a:p>
            <a:pPr marL="286385" marR="57150">
              <a:lnSpc>
                <a:spcPct val="134300"/>
              </a:lnSpc>
              <a:spcBef>
                <a:spcPts val="45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Percentage</a:t>
            </a:r>
            <a:r>
              <a:rPr dirty="0" sz="1350" spc="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of</a:t>
            </a:r>
            <a:r>
              <a:rPr dirty="0" sz="1350" spc="6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blemishes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correctly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identified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per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 face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50" spc="70" b="1">
                <a:solidFill>
                  <a:srgbClr val="3F3C4E"/>
                </a:solidFill>
                <a:latin typeface="Cambria"/>
                <a:cs typeface="Cambria"/>
              </a:rPr>
              <a:t>Evaluation</a:t>
            </a:r>
            <a:r>
              <a:rPr dirty="0" sz="1650" spc="30" b="1">
                <a:solidFill>
                  <a:srgbClr val="3F3C4E"/>
                </a:solidFill>
                <a:latin typeface="Cambria"/>
                <a:cs typeface="Cambria"/>
              </a:rPr>
              <a:t> </a:t>
            </a:r>
            <a:r>
              <a:rPr dirty="0" sz="1650" spc="45" b="1">
                <a:solidFill>
                  <a:srgbClr val="3F3C4E"/>
                </a:solidFill>
                <a:latin typeface="Cambria"/>
                <a:cs typeface="Cambria"/>
              </a:rPr>
              <a:t>Protocol</a:t>
            </a:r>
            <a:endParaRPr sz="165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177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80/20</a:t>
            </a:r>
            <a:r>
              <a:rPr dirty="0" sz="1350" spc="-8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Train/Validation</a:t>
            </a:r>
            <a:r>
              <a:rPr dirty="0" sz="1350" spc="-6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Split</a:t>
            </a:r>
            <a:endParaRPr sz="1350">
              <a:latin typeface="Trebuchet MS"/>
              <a:cs typeface="Trebuchet MS"/>
            </a:endParaRPr>
          </a:p>
          <a:p>
            <a:pPr marL="286385" marR="170180">
              <a:lnSpc>
                <a:spcPct val="129600"/>
              </a:lnSpc>
              <a:spcBef>
                <a:spcPts val="530"/>
              </a:spcBef>
            </a:pP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Testing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exclusively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85">
                <a:solidFill>
                  <a:srgbClr val="3F3C4E"/>
                </a:solidFill>
                <a:latin typeface="Trebuchet MS"/>
                <a:cs typeface="Trebuchet MS"/>
              </a:rPr>
              <a:t>on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3F3C4E"/>
                </a:solidFill>
                <a:latin typeface="Trebuchet MS"/>
                <a:cs typeface="Trebuchet MS"/>
              </a:rPr>
              <a:t>real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images</a:t>
            </a:r>
            <a:endParaRPr sz="1350">
              <a:latin typeface="Trebuchet MS"/>
              <a:cs typeface="Trebuchet MS"/>
            </a:endParaRPr>
          </a:p>
          <a:p>
            <a:pPr marL="286385" marR="5080">
              <a:lnSpc>
                <a:spcPct val="129600"/>
              </a:lnSpc>
              <a:spcBef>
                <a:spcPts val="600"/>
              </a:spcBef>
            </a:pPr>
            <a:r>
              <a:rPr dirty="0" sz="1350" spc="70">
                <a:solidFill>
                  <a:srgbClr val="3F3C4E"/>
                </a:solidFill>
                <a:latin typeface="Trebuchet MS"/>
                <a:cs typeface="Trebuchet MS"/>
              </a:rPr>
              <a:t>Ground</a:t>
            </a:r>
            <a:r>
              <a:rPr dirty="0" sz="1350" spc="-6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truth:</a:t>
            </a:r>
            <a:r>
              <a:rPr dirty="0" sz="1350" spc="-5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manually </a:t>
            </a:r>
            <a:r>
              <a:rPr dirty="0" sz="1350">
                <a:solidFill>
                  <a:srgbClr val="3F3C4E"/>
                </a:solidFill>
                <a:latin typeface="Trebuchet MS"/>
                <a:cs typeface="Trebuchet MS"/>
              </a:rPr>
              <a:t>annotated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70">
                <a:solidFill>
                  <a:srgbClr val="3F3C4E"/>
                </a:solidFill>
                <a:latin typeface="Trebuchet MS"/>
                <a:cs typeface="Trebuchet MS"/>
              </a:rPr>
              <a:t>masks</a:t>
            </a:r>
            <a:r>
              <a:rPr dirty="0" sz="1350" spc="50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3F3C4E"/>
                </a:solidFill>
                <a:latin typeface="Trebuchet MS"/>
                <a:cs typeface="Trebuchet MS"/>
              </a:rPr>
              <a:t>and</a:t>
            </a:r>
            <a:r>
              <a:rPr dirty="0" sz="1350" spc="45">
                <a:solidFill>
                  <a:srgbClr val="3F3C4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F3C4E"/>
                </a:solidFill>
                <a:latin typeface="Trebuchet MS"/>
                <a:cs typeface="Trebuchet MS"/>
              </a:rPr>
              <a:t>labels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2026-02-03T19:06:48Z</dcterms:created>
  <dcterms:modified xsi:type="dcterms:W3CDTF">2026-02-03T19:06:48Z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2025-12-15T00:00:00Z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2026-02-03T00:00:00Z</vt:filetime>
  </property>
  <property fmtid="{D5CDD505-2E9C-101B-9397-08002B2CF9AE}" pid="5" name="Producer">
    <vt:lpwstr>GPL Ghostscript 9.56.1</vt:lpwstr>
  </property>
</Properties>
</file>