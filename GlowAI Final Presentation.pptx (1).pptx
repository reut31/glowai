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mo Bold" charset="1" panose="020B0704020202020204"/>
      <p:regular r:id="rId16"/>
    </p:embeddedFont>
    <p:embeddedFont>
      <p:font typeface="Arimo" charset="1" panose="020B0604020202020204"/>
      <p:regular r:id="rId17"/>
    </p:embeddedFont>
    <p:embeddedFont>
      <p:font typeface="Arimo Italics" charset="1" panose="020B060402020209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png" Type="http://schemas.openxmlformats.org/officeDocument/2006/relationships/image"/><Relationship Id="rId4" Target="../media/image6.png" Type="http://schemas.openxmlformats.org/officeDocument/2006/relationships/image"/><Relationship Id="rId5" Target="../media/image9.jpe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jpe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2" Target="../media/image11.png" Type="http://schemas.openxmlformats.org/officeDocument/2006/relationships/image"/><Relationship Id="rId3" Target="../media/image8.png" Type="http://schemas.openxmlformats.org/officeDocument/2006/relationships/image"/><Relationship Id="rId4" Target="../media/image12.jpeg" Type="http://schemas.openxmlformats.org/officeDocument/2006/relationships/image"/><Relationship Id="rId5" Target="../media/image13.png" Type="http://schemas.openxmlformats.org/officeDocument/2006/relationships/image"/><Relationship Id="rId6" Target="../media/image14.jpeg" Type="http://schemas.openxmlformats.org/officeDocument/2006/relationships/image"/><Relationship Id="rId7" Target="../media/image15.jpe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8.png" Type="http://schemas.openxmlformats.org/officeDocument/2006/relationships/image"/><Relationship Id="rId4" Target="../media/image6.png" Type="http://schemas.openxmlformats.org/officeDocument/2006/relationships/image"/><Relationship Id="rId5" Target="../media/image2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png" Type="http://schemas.openxmlformats.org/officeDocument/2006/relationships/image"/><Relationship Id="rId4" Target="../media/image8.png" Type="http://schemas.openxmlformats.org/officeDocument/2006/relationships/image"/><Relationship Id="rId5" Target="../media/image22.jpeg" Type="http://schemas.openxmlformats.org/officeDocument/2006/relationships/image"/><Relationship Id="rId6" Target="../media/image2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857250" y="8003905"/>
            <a:ext cx="16573500" cy="711470"/>
          </a:xfrm>
          <a:custGeom>
            <a:avLst/>
            <a:gdLst/>
            <a:ahLst/>
            <a:cxnLst/>
            <a:rect r="r" b="b" t="t" l="l"/>
            <a:pathLst>
              <a:path h="711470" w="16573500">
                <a:moveTo>
                  <a:pt x="0" y="0"/>
                </a:moveTo>
                <a:lnTo>
                  <a:pt x="16573500" y="0"/>
                </a:lnTo>
                <a:lnTo>
                  <a:pt x="16573500" y="711470"/>
                </a:lnTo>
                <a:lnTo>
                  <a:pt x="0" y="711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40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28049" y="2579329"/>
            <a:ext cx="5431902" cy="184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18"/>
              </a:lnSpc>
            </a:pPr>
            <a:r>
              <a:rPr lang="en-US" b="true" sz="10999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GlowAI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22069" y="4983432"/>
            <a:ext cx="8043862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SKIN CONDITION CLASSIFICATION</a:t>
            </a: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FROM SYNTHETIC 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8122968"/>
            <a:ext cx="16573500" cy="549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5"/>
              </a:lnSpc>
            </a:pPr>
            <a:r>
              <a:rPr lang="en-US" sz="2424">
                <a:solidFill>
                  <a:srgbClr val="AFC1D0"/>
                </a:solidFill>
                <a:latin typeface="Arimo"/>
                <a:ea typeface="Arimo"/>
                <a:cs typeface="Arimo"/>
                <a:sym typeface="Arimo"/>
              </a:rPr>
              <a:t>Submitted by: Lin Schneider, Reut Sasson, Ron Noiman  |  Course: GenAI  |  Year: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11237119" y="1028700"/>
            <a:ext cx="5072062" cy="5072062"/>
          </a:xfrm>
          <a:custGeom>
            <a:avLst/>
            <a:gdLst/>
            <a:ahLst/>
            <a:cxnLst/>
            <a:rect r="r" b="b" t="t" l="l"/>
            <a:pathLst>
              <a:path h="5072062" w="5072062">
                <a:moveTo>
                  <a:pt x="0" y="0"/>
                </a:moveTo>
                <a:lnTo>
                  <a:pt x="5072062" y="0"/>
                </a:lnTo>
                <a:lnTo>
                  <a:pt x="5072062" y="5072062"/>
                </a:lnTo>
                <a:lnTo>
                  <a:pt x="0" y="507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12632131" y="7184231"/>
            <a:ext cx="2314575" cy="571500"/>
          </a:xfrm>
          <a:custGeom>
            <a:avLst/>
            <a:gdLst/>
            <a:ahLst/>
            <a:cxnLst/>
            <a:rect r="r" b="b" t="t" l="l"/>
            <a:pathLst>
              <a:path h="571500" w="2314575">
                <a:moveTo>
                  <a:pt x="0" y="0"/>
                </a:moveTo>
                <a:lnTo>
                  <a:pt x="2314575" y="0"/>
                </a:lnTo>
                <a:lnTo>
                  <a:pt x="23145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 descr="image.png"/>
          <p:cNvSpPr/>
          <p:nvPr/>
        </p:nvSpPr>
        <p:spPr>
          <a:xfrm flipH="false" flipV="false" rot="0">
            <a:off x="11875671" y="8848725"/>
            <a:ext cx="4143375" cy="1000125"/>
          </a:xfrm>
          <a:custGeom>
            <a:avLst/>
            <a:gdLst/>
            <a:ahLst/>
            <a:cxnLst/>
            <a:rect r="r" b="b" t="t" l="l"/>
            <a:pathLst>
              <a:path h="1000125" w="4143375">
                <a:moveTo>
                  <a:pt x="0" y="0"/>
                </a:moveTo>
                <a:lnTo>
                  <a:pt x="4143375" y="0"/>
                </a:lnTo>
                <a:lnTo>
                  <a:pt x="4143375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 descr="image.png"/>
          <p:cNvSpPr/>
          <p:nvPr/>
        </p:nvSpPr>
        <p:spPr>
          <a:xfrm flipH="false" flipV="false" rot="0">
            <a:off x="13558838" y="6298406"/>
            <a:ext cx="428625" cy="571500"/>
          </a:xfrm>
          <a:custGeom>
            <a:avLst/>
            <a:gdLst/>
            <a:ahLst/>
            <a:cxnLst/>
            <a:rect r="r" b="b" t="t" l="l"/>
            <a:pathLst>
              <a:path h="571500" w="428625">
                <a:moveTo>
                  <a:pt x="0" y="0"/>
                </a:moveTo>
                <a:lnTo>
                  <a:pt x="428624" y="0"/>
                </a:lnTo>
                <a:lnTo>
                  <a:pt x="428624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 descr="image.png"/>
          <p:cNvSpPr/>
          <p:nvPr/>
        </p:nvSpPr>
        <p:spPr>
          <a:xfrm flipH="false" flipV="false" rot="0">
            <a:off x="13575106" y="8053388"/>
            <a:ext cx="428625" cy="571500"/>
          </a:xfrm>
          <a:custGeom>
            <a:avLst/>
            <a:gdLst/>
            <a:ahLst/>
            <a:cxnLst/>
            <a:rect r="r" b="b" t="t" l="l"/>
            <a:pathLst>
              <a:path h="571500" w="428625">
                <a:moveTo>
                  <a:pt x="0" y="0"/>
                </a:moveTo>
                <a:lnTo>
                  <a:pt x="428625" y="0"/>
                </a:lnTo>
                <a:lnTo>
                  <a:pt x="4286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57250" y="857250"/>
            <a:ext cx="17402175" cy="1100100"/>
            <a:chOff x="0" y="0"/>
            <a:chExt cx="23202900" cy="1466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202900" cy="1466800"/>
            </a:xfrm>
            <a:custGeom>
              <a:avLst/>
              <a:gdLst/>
              <a:ahLst/>
              <a:cxnLst/>
              <a:rect r="r" b="b" t="t" l="l"/>
              <a:pathLst>
                <a:path h="14668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466800"/>
                  </a:lnTo>
                  <a:lnTo>
                    <a:pt x="0" y="1466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3202900" cy="14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F3F6F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Project Definition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250" y="3078956"/>
            <a:ext cx="57150" cy="500062"/>
            <a:chOff x="0" y="0"/>
            <a:chExt cx="76200" cy="666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6800850"/>
            <a:ext cx="57150" cy="500062"/>
            <a:chOff x="0" y="0"/>
            <a:chExt cx="76200" cy="6667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4" id="14" descr="image.png"/>
          <p:cNvSpPr/>
          <p:nvPr/>
        </p:nvSpPr>
        <p:spPr>
          <a:xfrm flipH="false" flipV="false" rot="0">
            <a:off x="1000125" y="3929062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 descr="image.png"/>
          <p:cNvSpPr/>
          <p:nvPr/>
        </p:nvSpPr>
        <p:spPr>
          <a:xfrm flipH="false" flipV="false" rot="0">
            <a:off x="981075" y="5181600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 descr="image.png"/>
          <p:cNvSpPr/>
          <p:nvPr/>
        </p:nvSpPr>
        <p:spPr>
          <a:xfrm flipH="false" flipV="false" rot="0">
            <a:off x="1000125" y="7643812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 descr="image.png"/>
          <p:cNvSpPr/>
          <p:nvPr/>
        </p:nvSpPr>
        <p:spPr>
          <a:xfrm flipH="false" flipV="false" rot="0">
            <a:off x="1000125" y="8272462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888403" y="1579726"/>
            <a:ext cx="3802031" cy="3998586"/>
          </a:xfrm>
          <a:custGeom>
            <a:avLst/>
            <a:gdLst/>
            <a:ahLst/>
            <a:cxnLst/>
            <a:rect r="r" b="b" t="t" l="l"/>
            <a:pathLst>
              <a:path h="3998586" w="3802031">
                <a:moveTo>
                  <a:pt x="0" y="0"/>
                </a:moveTo>
                <a:lnTo>
                  <a:pt x="3802031" y="0"/>
                </a:lnTo>
                <a:lnTo>
                  <a:pt x="3802031" y="3998586"/>
                </a:lnTo>
                <a:lnTo>
                  <a:pt x="0" y="39985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42715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442683" y="9186862"/>
            <a:ext cx="234265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"/>
              </a:lnSpc>
            </a:pPr>
            <a:r>
              <a:rPr lang="en-US" b="true" sz="2258">
                <a:solidFill>
                  <a:srgbClr val="0B1320"/>
                </a:solidFill>
                <a:latin typeface="Arimo Bold"/>
                <a:ea typeface="Arimo Bold"/>
                <a:cs typeface="Arimo Bold"/>
                <a:sym typeface="Arimo Bold"/>
              </a:rPr>
              <a:t>-</a:t>
            </a:r>
            <a:r>
              <a:rPr lang="en-US" b="true" sz="2258">
                <a:solidFill>
                  <a:srgbClr val="0B1320"/>
                </a:solidFill>
                <a:latin typeface="Arimo Bold"/>
                <a:ea typeface="Arimo Bold"/>
                <a:cs typeface="Arimo Bold"/>
                <a:sym typeface="Arimo Bold"/>
              </a:rPr>
              <a:t> 72% confidence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1562" y="3059906"/>
            <a:ext cx="315743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Goal &amp; Motivation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1562" y="6781800"/>
            <a:ext cx="802600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Input &amp; Output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8750" y="3730228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Goal: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Classify face images into three classes – </a:t>
            </a: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acne, erythema, none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8750" y="4995862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Motivation: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Quick pre-screening from consumer-grade images (selfies), not a medical diagnosis.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8750" y="7415212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Input: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RGB face image (frontal selfie).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8750" y="8043862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Output: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Predicted class + confidence score.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8858250" y="2161299"/>
            <a:ext cx="8974017" cy="7381284"/>
          </a:xfrm>
          <a:custGeom>
            <a:avLst/>
            <a:gdLst/>
            <a:ahLst/>
            <a:cxnLst/>
            <a:rect r="r" b="b" t="t" l="l"/>
            <a:pathLst>
              <a:path h="7381284" w="8974017">
                <a:moveTo>
                  <a:pt x="0" y="0"/>
                </a:moveTo>
                <a:lnTo>
                  <a:pt x="8974017" y="0"/>
                </a:lnTo>
                <a:lnTo>
                  <a:pt x="8974017" y="7381284"/>
                </a:lnTo>
                <a:lnTo>
                  <a:pt x="0" y="7381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7250" y="575423"/>
            <a:ext cx="17402175" cy="1100100"/>
            <a:chOff x="0" y="0"/>
            <a:chExt cx="23202900" cy="1466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202900" cy="1466800"/>
            </a:xfrm>
            <a:custGeom>
              <a:avLst/>
              <a:gdLst/>
              <a:ahLst/>
              <a:cxnLst/>
              <a:rect r="r" b="b" t="t" l="l"/>
              <a:pathLst>
                <a:path h="14668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466800"/>
                  </a:lnTo>
                  <a:lnTo>
                    <a:pt x="0" y="1466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3202900" cy="14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F3F6F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Project Achievements &amp; Novelty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7250" y="2386012"/>
            <a:ext cx="57150" cy="500062"/>
            <a:chOff x="0" y="0"/>
            <a:chExt cx="76200" cy="666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5743575"/>
            <a:ext cx="57150" cy="500062"/>
            <a:chOff x="0" y="0"/>
            <a:chExt cx="76200" cy="6667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0" id="10" descr="image.png"/>
          <p:cNvSpPr/>
          <p:nvPr/>
        </p:nvSpPr>
        <p:spPr>
          <a:xfrm flipH="false" flipV="false" rot="0">
            <a:off x="1000125" y="3228975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 descr="image.png"/>
          <p:cNvSpPr/>
          <p:nvPr/>
        </p:nvSpPr>
        <p:spPr>
          <a:xfrm flipH="false" flipV="false" rot="0">
            <a:off x="1000125" y="4314825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 descr="image.png"/>
          <p:cNvSpPr/>
          <p:nvPr/>
        </p:nvSpPr>
        <p:spPr>
          <a:xfrm flipH="false" flipV="false" rot="0">
            <a:off x="1000125" y="6586538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 descr="image.png"/>
          <p:cNvSpPr/>
          <p:nvPr/>
        </p:nvSpPr>
        <p:spPr>
          <a:xfrm flipH="false" flipV="false" rot="0">
            <a:off x="1000125" y="8062912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 descr="image.png"/>
          <p:cNvSpPr/>
          <p:nvPr/>
        </p:nvSpPr>
        <p:spPr>
          <a:xfrm flipH="false" flipV="false" rot="0">
            <a:off x="1000125" y="8958262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485549" y="2746348"/>
            <a:ext cx="3788272" cy="6796236"/>
          </a:xfrm>
          <a:custGeom>
            <a:avLst/>
            <a:gdLst/>
            <a:ahLst/>
            <a:cxnLst/>
            <a:rect r="r" b="b" t="t" l="l"/>
            <a:pathLst>
              <a:path h="6796236" w="3788272">
                <a:moveTo>
                  <a:pt x="0" y="0"/>
                </a:moveTo>
                <a:lnTo>
                  <a:pt x="3788272" y="0"/>
                </a:lnTo>
                <a:lnTo>
                  <a:pt x="3788272" y="6796235"/>
                </a:lnTo>
                <a:lnTo>
                  <a:pt x="0" y="67962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788171" y="2746348"/>
            <a:ext cx="3788272" cy="6796236"/>
          </a:xfrm>
          <a:custGeom>
            <a:avLst/>
            <a:gdLst/>
            <a:ahLst/>
            <a:cxnLst/>
            <a:rect r="r" b="b" t="t" l="l"/>
            <a:pathLst>
              <a:path h="6796236" w="3788272">
                <a:moveTo>
                  <a:pt x="0" y="0"/>
                </a:moveTo>
                <a:lnTo>
                  <a:pt x="3788272" y="0"/>
                </a:lnTo>
                <a:lnTo>
                  <a:pt x="3788272" y="6796235"/>
                </a:lnTo>
                <a:lnTo>
                  <a:pt x="0" y="67962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71562" y="5724525"/>
            <a:ext cx="802600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Novelty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1562" y="2366962"/>
            <a:ext cx="802600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Achievements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16233" y="2098919"/>
            <a:ext cx="7258050" cy="50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3"/>
              </a:lnSpc>
            </a:pPr>
            <a:r>
              <a:rPr lang="en-US" sz="2199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Comparison: Clean vs. Synthetic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8750" y="3000375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Trained a 3-class classifier (EfficientNet-B2) combining real and synthetic data.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8750" y="4086225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Built an end-to-end pipeline: generation → training → evaluation → feedback.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8750" y="6357938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Custom Skin Simulator: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OpenCV-based tool for realistic acne &amp; erythema control (location, spread, intensity).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8750" y="7891462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Synthetic Data Engine: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Solving scarcity of labeled medical data.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8750" y="8858250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Feedback Loop: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Manual set to guide improvements.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61867" y="-201181"/>
            <a:ext cx="3564267" cy="1315606"/>
          </a:xfrm>
          <a:custGeom>
            <a:avLst/>
            <a:gdLst/>
            <a:ahLst/>
            <a:cxnLst/>
            <a:rect r="r" b="b" t="t" l="l"/>
            <a:pathLst>
              <a:path h="1315606" w="3564267">
                <a:moveTo>
                  <a:pt x="0" y="0"/>
                </a:moveTo>
                <a:lnTo>
                  <a:pt x="3564266" y="0"/>
                </a:lnTo>
                <a:lnTo>
                  <a:pt x="3564266" y="1315606"/>
                </a:lnTo>
                <a:lnTo>
                  <a:pt x="0" y="131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371730" y="734851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3" y="0"/>
                </a:lnTo>
                <a:lnTo>
                  <a:pt x="3527213" y="4702498"/>
                </a:lnTo>
                <a:lnTo>
                  <a:pt x="0" y="470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42086" y="1028700"/>
            <a:ext cx="2743200" cy="4114800"/>
          </a:xfrm>
          <a:custGeom>
            <a:avLst/>
            <a:gdLst/>
            <a:ahLst/>
            <a:cxnLst/>
            <a:rect r="r" b="b" t="t" l="l"/>
            <a:pathLst>
              <a:path h="4114800" w="2743200">
                <a:moveTo>
                  <a:pt x="0" y="0"/>
                </a:moveTo>
                <a:lnTo>
                  <a:pt x="2743200" y="0"/>
                </a:lnTo>
                <a:lnTo>
                  <a:pt x="2743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 descr="image.png"/>
          <p:cNvSpPr/>
          <p:nvPr/>
        </p:nvSpPr>
        <p:spPr>
          <a:xfrm flipH="false" flipV="false" rot="0">
            <a:off x="350079" y="5584503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3" y="0"/>
                </a:lnTo>
                <a:lnTo>
                  <a:pt x="3527213" y="4702497"/>
                </a:lnTo>
                <a:lnTo>
                  <a:pt x="0" y="4702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4517" y="5972729"/>
            <a:ext cx="2743200" cy="4114800"/>
          </a:xfrm>
          <a:custGeom>
            <a:avLst/>
            <a:gdLst/>
            <a:ahLst/>
            <a:cxnLst/>
            <a:rect r="r" b="b" t="t" l="l"/>
            <a:pathLst>
              <a:path h="4114800" w="2743200">
                <a:moveTo>
                  <a:pt x="0" y="0"/>
                </a:moveTo>
                <a:lnTo>
                  <a:pt x="2743200" y="0"/>
                </a:lnTo>
                <a:lnTo>
                  <a:pt x="2743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40218" y="1028700"/>
            <a:ext cx="3085136" cy="4105120"/>
          </a:xfrm>
          <a:custGeom>
            <a:avLst/>
            <a:gdLst/>
            <a:ahLst/>
            <a:cxnLst/>
            <a:rect r="r" b="b" t="t" l="l"/>
            <a:pathLst>
              <a:path h="4105120" w="3085136">
                <a:moveTo>
                  <a:pt x="0" y="0"/>
                </a:moveTo>
                <a:lnTo>
                  <a:pt x="3085136" y="0"/>
                </a:lnTo>
                <a:lnTo>
                  <a:pt x="3085136" y="4105120"/>
                </a:lnTo>
                <a:lnTo>
                  <a:pt x="0" y="41051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97075" y="1028700"/>
            <a:ext cx="2743200" cy="4114800"/>
          </a:xfrm>
          <a:custGeom>
            <a:avLst/>
            <a:gdLst/>
            <a:ahLst/>
            <a:cxnLst/>
            <a:rect r="r" b="b" t="t" l="l"/>
            <a:pathLst>
              <a:path h="4114800" w="2743200">
                <a:moveTo>
                  <a:pt x="0" y="0"/>
                </a:moveTo>
                <a:lnTo>
                  <a:pt x="2743200" y="0"/>
                </a:lnTo>
                <a:lnTo>
                  <a:pt x="2743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332943" y="6067979"/>
            <a:ext cx="3092411" cy="4114800"/>
          </a:xfrm>
          <a:custGeom>
            <a:avLst/>
            <a:gdLst/>
            <a:ahLst/>
            <a:cxnLst/>
            <a:rect r="r" b="b" t="t" l="l"/>
            <a:pathLst>
              <a:path h="4114800" w="3092411">
                <a:moveTo>
                  <a:pt x="0" y="0"/>
                </a:moveTo>
                <a:lnTo>
                  <a:pt x="3092411" y="0"/>
                </a:lnTo>
                <a:lnTo>
                  <a:pt x="30924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697075" y="6067979"/>
            <a:ext cx="2743200" cy="4114800"/>
          </a:xfrm>
          <a:custGeom>
            <a:avLst/>
            <a:gdLst/>
            <a:ahLst/>
            <a:cxnLst/>
            <a:rect r="r" b="b" t="t" l="l"/>
            <a:pathLst>
              <a:path h="4114800" w="2743200">
                <a:moveTo>
                  <a:pt x="0" y="0"/>
                </a:moveTo>
                <a:lnTo>
                  <a:pt x="2743200" y="0"/>
                </a:lnTo>
                <a:lnTo>
                  <a:pt x="2743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189614" y="1028700"/>
            <a:ext cx="2743200" cy="4114800"/>
          </a:xfrm>
          <a:custGeom>
            <a:avLst/>
            <a:gdLst/>
            <a:ahLst/>
            <a:cxnLst/>
            <a:rect r="r" b="b" t="t" l="l"/>
            <a:pathLst>
              <a:path h="4114800" w="2743200">
                <a:moveTo>
                  <a:pt x="0" y="0"/>
                </a:moveTo>
                <a:lnTo>
                  <a:pt x="2743200" y="0"/>
                </a:lnTo>
                <a:lnTo>
                  <a:pt x="2743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89614" y="6067979"/>
            <a:ext cx="2743200" cy="4114800"/>
          </a:xfrm>
          <a:custGeom>
            <a:avLst/>
            <a:gdLst/>
            <a:ahLst/>
            <a:cxnLst/>
            <a:rect r="r" b="b" t="t" l="l"/>
            <a:pathLst>
              <a:path h="4114800" w="2743200">
                <a:moveTo>
                  <a:pt x="0" y="0"/>
                </a:moveTo>
                <a:lnTo>
                  <a:pt x="2743200" y="0"/>
                </a:lnTo>
                <a:lnTo>
                  <a:pt x="2743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 descr="image.png"/>
          <p:cNvSpPr/>
          <p:nvPr/>
        </p:nvSpPr>
        <p:spPr>
          <a:xfrm flipH="false" flipV="false" rot="0">
            <a:off x="14305054" y="702662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3" y="0"/>
                </a:lnTo>
                <a:lnTo>
                  <a:pt x="3527213" y="4702497"/>
                </a:lnTo>
                <a:lnTo>
                  <a:pt x="0" y="4702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</p:spPr>
      </p:sp>
      <p:sp>
        <p:nvSpPr>
          <p:cNvPr name="Freeform 14" id="14" descr="image.png"/>
          <p:cNvSpPr/>
          <p:nvPr/>
        </p:nvSpPr>
        <p:spPr>
          <a:xfrm flipH="false" flipV="false" rot="0">
            <a:off x="14305069" y="5584503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2" y="0"/>
                </a:lnTo>
                <a:lnTo>
                  <a:pt x="3527212" y="4702497"/>
                </a:lnTo>
                <a:lnTo>
                  <a:pt x="0" y="4702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</p:spPr>
      </p:sp>
      <p:sp>
        <p:nvSpPr>
          <p:cNvPr name="Freeform 15" id="15" descr="image.png"/>
          <p:cNvSpPr/>
          <p:nvPr/>
        </p:nvSpPr>
        <p:spPr>
          <a:xfrm flipH="false" flipV="false" rot="0">
            <a:off x="9797608" y="734851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3" y="0"/>
                </a:lnTo>
                <a:lnTo>
                  <a:pt x="3527213" y="4702498"/>
                </a:lnTo>
                <a:lnTo>
                  <a:pt x="0" y="470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</p:spPr>
      </p:sp>
      <p:sp>
        <p:nvSpPr>
          <p:cNvPr name="Freeform 16" id="16" descr="image.png"/>
          <p:cNvSpPr/>
          <p:nvPr/>
        </p:nvSpPr>
        <p:spPr>
          <a:xfrm flipH="false" flipV="false" rot="0">
            <a:off x="9797608" y="5584503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3" y="0"/>
                </a:lnTo>
                <a:lnTo>
                  <a:pt x="3527213" y="4702497"/>
                </a:lnTo>
                <a:lnTo>
                  <a:pt x="0" y="4702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</p:spPr>
      </p:sp>
      <p:sp>
        <p:nvSpPr>
          <p:cNvPr name="Freeform 17" id="17" descr="image.png"/>
          <p:cNvSpPr/>
          <p:nvPr/>
        </p:nvSpPr>
        <p:spPr>
          <a:xfrm flipH="false" flipV="false" rot="0">
            <a:off x="5115542" y="734851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2" y="0"/>
                </a:lnTo>
                <a:lnTo>
                  <a:pt x="3527212" y="4702498"/>
                </a:lnTo>
                <a:lnTo>
                  <a:pt x="0" y="470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</p:spPr>
      </p:sp>
      <p:sp>
        <p:nvSpPr>
          <p:cNvPr name="Freeform 18" id="18" descr="image.png"/>
          <p:cNvSpPr/>
          <p:nvPr/>
        </p:nvSpPr>
        <p:spPr>
          <a:xfrm flipH="false" flipV="false" rot="0">
            <a:off x="5115542" y="5584503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2" y="0"/>
                </a:lnTo>
                <a:lnTo>
                  <a:pt x="3527212" y="4702497"/>
                </a:lnTo>
                <a:lnTo>
                  <a:pt x="0" y="4702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361867" y="4860842"/>
            <a:ext cx="3564267" cy="883288"/>
          </a:xfrm>
          <a:custGeom>
            <a:avLst/>
            <a:gdLst/>
            <a:ahLst/>
            <a:cxnLst/>
            <a:rect r="r" b="b" t="t" l="l"/>
            <a:pathLst>
              <a:path h="883288" w="3564267">
                <a:moveTo>
                  <a:pt x="0" y="0"/>
                </a:moveTo>
                <a:lnTo>
                  <a:pt x="3564266" y="0"/>
                </a:lnTo>
                <a:lnTo>
                  <a:pt x="3564266" y="883287"/>
                </a:lnTo>
                <a:lnTo>
                  <a:pt x="0" y="8832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58046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9572625" y="2271785"/>
            <a:ext cx="8329974" cy="6043540"/>
          </a:xfrm>
          <a:custGeom>
            <a:avLst/>
            <a:gdLst/>
            <a:ahLst/>
            <a:cxnLst/>
            <a:rect r="r" b="b" t="t" l="l"/>
            <a:pathLst>
              <a:path h="6043540" w="8329974">
                <a:moveTo>
                  <a:pt x="0" y="0"/>
                </a:moveTo>
                <a:lnTo>
                  <a:pt x="8329974" y="0"/>
                </a:lnTo>
                <a:lnTo>
                  <a:pt x="8329974" y="6043540"/>
                </a:lnTo>
                <a:lnTo>
                  <a:pt x="0" y="60435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196" r="-4392" b="-1252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7250" y="638574"/>
            <a:ext cx="17402175" cy="1100100"/>
            <a:chOff x="0" y="0"/>
            <a:chExt cx="23202900" cy="1466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202900" cy="1466800"/>
            </a:xfrm>
            <a:custGeom>
              <a:avLst/>
              <a:gdLst/>
              <a:ahLst/>
              <a:cxnLst/>
              <a:rect r="r" b="b" t="t" l="l"/>
              <a:pathLst>
                <a:path h="14668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466800"/>
                  </a:lnTo>
                  <a:lnTo>
                    <a:pt x="0" y="1466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3202900" cy="14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F3F6F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Methodology &amp; Pipeline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7250" y="2600325"/>
            <a:ext cx="57150" cy="500062"/>
            <a:chOff x="0" y="0"/>
            <a:chExt cx="76200" cy="666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7072312"/>
            <a:ext cx="57150" cy="500062"/>
            <a:chOff x="0" y="0"/>
            <a:chExt cx="76200" cy="6667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0" id="10" descr="image.png"/>
          <p:cNvSpPr/>
          <p:nvPr/>
        </p:nvSpPr>
        <p:spPr>
          <a:xfrm flipH="false" flipV="false" rot="0">
            <a:off x="1000125" y="3443288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 descr="image.png"/>
          <p:cNvSpPr/>
          <p:nvPr/>
        </p:nvSpPr>
        <p:spPr>
          <a:xfrm flipH="false" flipV="false" rot="0">
            <a:off x="1000125" y="4529138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 descr="image.png"/>
          <p:cNvSpPr/>
          <p:nvPr/>
        </p:nvSpPr>
        <p:spPr>
          <a:xfrm flipH="false" flipV="false" rot="0">
            <a:off x="1000125" y="5157788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 descr="image.png"/>
          <p:cNvSpPr/>
          <p:nvPr/>
        </p:nvSpPr>
        <p:spPr>
          <a:xfrm flipH="false" flipV="false" rot="0">
            <a:off x="1000125" y="5786438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 descr="image.png"/>
          <p:cNvSpPr/>
          <p:nvPr/>
        </p:nvSpPr>
        <p:spPr>
          <a:xfrm flipH="false" flipV="false" rot="0">
            <a:off x="1000125" y="7915275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 descr="image.png"/>
          <p:cNvSpPr/>
          <p:nvPr/>
        </p:nvSpPr>
        <p:spPr>
          <a:xfrm flipH="false" flipV="false" rot="0">
            <a:off x="1000125" y="8543925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728183" y="2569369"/>
            <a:ext cx="8018859" cy="5345906"/>
          </a:xfrm>
          <a:custGeom>
            <a:avLst/>
            <a:gdLst/>
            <a:ahLst/>
            <a:cxnLst/>
            <a:rect r="r" b="b" t="t" l="l"/>
            <a:pathLst>
              <a:path h="5345906" w="8018859">
                <a:moveTo>
                  <a:pt x="0" y="0"/>
                </a:moveTo>
                <a:lnTo>
                  <a:pt x="8018859" y="0"/>
                </a:lnTo>
                <a:lnTo>
                  <a:pt x="8018859" y="5345906"/>
                </a:lnTo>
                <a:lnTo>
                  <a:pt x="0" y="5345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71562" y="2581275"/>
            <a:ext cx="802600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Methodology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1562" y="7053262"/>
            <a:ext cx="802600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Evaluation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8750" y="3214688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Data: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3-class dataset (Acne/Erythema/None) mixed with synthetic data.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8750" y="4300538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Preprocessing: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Resize 224×224, Normalize (ImageNet).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8750" y="4929188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Augmentations: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Flip, rotation, color jitter (mimic selfies).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8750" y="5557838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Training: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EfficientNet-B2, Two-stage fine-tuning, AdamW, Cross-Entropy.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8750" y="7686675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Selected best model by validation accuracy.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8750" y="8315325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Analyzed per-class behavior via confusion matrix.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469125"/>
            <a:ext cx="17402175" cy="1100100"/>
            <a:chOff x="0" y="0"/>
            <a:chExt cx="23202900" cy="1466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1466800"/>
            </a:xfrm>
            <a:custGeom>
              <a:avLst/>
              <a:gdLst/>
              <a:ahLst/>
              <a:cxnLst/>
              <a:rect r="r" b="b" t="t" l="l"/>
              <a:pathLst>
                <a:path h="14668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466800"/>
                  </a:lnTo>
                  <a:lnTo>
                    <a:pt x="0" y="1466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3202900" cy="14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F3F6F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Results: Validation &amp; Manual Test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2124075"/>
            <a:ext cx="57150" cy="500062"/>
            <a:chOff x="0" y="0"/>
            <a:chExt cx="76200" cy="6667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572625" y="2133600"/>
            <a:ext cx="57150" cy="500062"/>
            <a:chOff x="0" y="0"/>
            <a:chExt cx="76200" cy="6667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9" id="9" descr="image.png"/>
          <p:cNvSpPr/>
          <p:nvPr/>
        </p:nvSpPr>
        <p:spPr>
          <a:xfrm flipH="false" flipV="false" rot="0">
            <a:off x="971550" y="3002756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 descr="image.png"/>
          <p:cNvSpPr/>
          <p:nvPr/>
        </p:nvSpPr>
        <p:spPr>
          <a:xfrm flipH="false" flipV="false" rot="0">
            <a:off x="990600" y="3679031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 descr="image.png"/>
          <p:cNvSpPr/>
          <p:nvPr/>
        </p:nvSpPr>
        <p:spPr>
          <a:xfrm flipH="false" flipV="false" rot="0">
            <a:off x="9644062" y="2978944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 descr="image.png"/>
          <p:cNvSpPr/>
          <p:nvPr/>
        </p:nvSpPr>
        <p:spPr>
          <a:xfrm flipH="false" flipV="false" rot="0">
            <a:off x="9629775" y="3635784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 descr="image.png"/>
          <p:cNvSpPr/>
          <p:nvPr/>
        </p:nvSpPr>
        <p:spPr>
          <a:xfrm flipH="false" flipV="false" rot="0">
            <a:off x="9629775" y="4269197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 descr="image.png"/>
          <p:cNvSpPr/>
          <p:nvPr/>
        </p:nvSpPr>
        <p:spPr>
          <a:xfrm flipH="false" flipV="false" rot="0">
            <a:off x="10545056" y="5132254"/>
            <a:ext cx="6256163" cy="4800600"/>
          </a:xfrm>
          <a:custGeom>
            <a:avLst/>
            <a:gdLst/>
            <a:ahLst/>
            <a:cxnLst/>
            <a:rect r="r" b="b" t="t" l="l"/>
            <a:pathLst>
              <a:path h="4800600" w="6256163">
                <a:moveTo>
                  <a:pt x="0" y="0"/>
                </a:moveTo>
                <a:lnTo>
                  <a:pt x="6256163" y="0"/>
                </a:lnTo>
                <a:lnTo>
                  <a:pt x="6256163" y="4800600"/>
                </a:lnTo>
                <a:lnTo>
                  <a:pt x="0" y="4800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309" r="-4392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716715" y="5437054"/>
            <a:ext cx="5874744" cy="3916496"/>
          </a:xfrm>
          <a:custGeom>
            <a:avLst/>
            <a:gdLst/>
            <a:ahLst/>
            <a:cxnLst/>
            <a:rect r="r" b="b" t="t" l="l"/>
            <a:pathLst>
              <a:path h="3916496" w="5874744">
                <a:moveTo>
                  <a:pt x="0" y="0"/>
                </a:moveTo>
                <a:lnTo>
                  <a:pt x="5874745" y="0"/>
                </a:lnTo>
                <a:lnTo>
                  <a:pt x="5874745" y="3916496"/>
                </a:lnTo>
                <a:lnTo>
                  <a:pt x="0" y="39164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60471" y="4402931"/>
            <a:ext cx="5927884" cy="4939903"/>
          </a:xfrm>
          <a:custGeom>
            <a:avLst/>
            <a:gdLst/>
            <a:ahLst/>
            <a:cxnLst/>
            <a:rect r="r" b="b" t="t" l="l"/>
            <a:pathLst>
              <a:path h="4939903" w="5927884">
                <a:moveTo>
                  <a:pt x="0" y="0"/>
                </a:moveTo>
                <a:lnTo>
                  <a:pt x="5927883" y="0"/>
                </a:lnTo>
                <a:lnTo>
                  <a:pt x="5927883" y="4939903"/>
                </a:lnTo>
                <a:lnTo>
                  <a:pt x="0" y="4939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57250" y="9405938"/>
            <a:ext cx="7858125" cy="4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7"/>
              </a:lnSpc>
            </a:pPr>
            <a:r>
              <a:rPr lang="en-US" sz="1874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Confusion Matrix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72625" y="9405938"/>
            <a:ext cx="7858125" cy="4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7"/>
              </a:lnSpc>
            </a:pPr>
            <a:r>
              <a:rPr lang="en-US" sz="1874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Training vs Validation Accuracy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1562" y="2085975"/>
            <a:ext cx="802600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Validation Results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86938" y="2085975"/>
            <a:ext cx="802600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Manual Test (Real Images)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8750" y="2800350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Best Val Accuracy: </a:t>
            </a: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~54%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8750" y="3507581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Main issue: "None" often predicted as "Acne/Erythema".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44125" y="2728912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Acne: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11/15 | </a:t>
            </a: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Erythema: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8/9 | </a:t>
            </a: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None: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17/17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34600" y="3445761"/>
            <a:ext cx="7286625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Overall Accuracy: ~88%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on curated real-world set.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44125" y="4080694"/>
            <a:ext cx="7668816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Significantly better performance on clean input than raw validation metrics suggest.</a:t>
            </a:r>
          </a:p>
        </p:txBody>
      </p:sp>
      <p:sp>
        <p:nvSpPr>
          <p:cNvPr name="Freeform 26" id="26" descr="image.png"/>
          <p:cNvSpPr/>
          <p:nvPr/>
        </p:nvSpPr>
        <p:spPr>
          <a:xfrm flipH="false" flipV="false" rot="0">
            <a:off x="1553016" y="4145756"/>
            <a:ext cx="6523744" cy="5747385"/>
          </a:xfrm>
          <a:custGeom>
            <a:avLst/>
            <a:gdLst/>
            <a:ahLst/>
            <a:cxnLst/>
            <a:rect r="r" b="b" t="t" l="l"/>
            <a:pathLst>
              <a:path h="5747385" w="6523744">
                <a:moveTo>
                  <a:pt x="0" y="0"/>
                </a:moveTo>
                <a:lnTo>
                  <a:pt x="6523743" y="0"/>
                </a:lnTo>
                <a:lnTo>
                  <a:pt x="6523743" y="5747385"/>
                </a:lnTo>
                <a:lnTo>
                  <a:pt x="0" y="57473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54" t="-11309" r="-14499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857250" y="2286000"/>
            <a:ext cx="5238598" cy="6086475"/>
          </a:xfrm>
          <a:custGeom>
            <a:avLst/>
            <a:gdLst/>
            <a:ahLst/>
            <a:cxnLst/>
            <a:rect r="r" b="b" t="t" l="l"/>
            <a:pathLst>
              <a:path h="6086475" w="5238598">
                <a:moveTo>
                  <a:pt x="0" y="0"/>
                </a:moveTo>
                <a:lnTo>
                  <a:pt x="5238598" y="0"/>
                </a:lnTo>
                <a:lnTo>
                  <a:pt x="5238598" y="6086475"/>
                </a:lnTo>
                <a:lnTo>
                  <a:pt x="0" y="6086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3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6524473" y="2286000"/>
            <a:ext cx="5238826" cy="6086475"/>
          </a:xfrm>
          <a:custGeom>
            <a:avLst/>
            <a:gdLst/>
            <a:ahLst/>
            <a:cxnLst/>
            <a:rect r="r" b="b" t="t" l="l"/>
            <a:pathLst>
              <a:path h="6086475" w="5238826">
                <a:moveTo>
                  <a:pt x="0" y="0"/>
                </a:moveTo>
                <a:lnTo>
                  <a:pt x="5238826" y="0"/>
                </a:lnTo>
                <a:lnTo>
                  <a:pt x="5238826" y="6086475"/>
                </a:lnTo>
                <a:lnTo>
                  <a:pt x="0" y="6086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62" b="0"/>
            </a:stretch>
          </a:blipFill>
        </p:spPr>
      </p:sp>
      <p:sp>
        <p:nvSpPr>
          <p:cNvPr name="Freeform 4" id="4" descr="image.png"/>
          <p:cNvSpPr/>
          <p:nvPr/>
        </p:nvSpPr>
        <p:spPr>
          <a:xfrm flipH="false" flipV="false" rot="0">
            <a:off x="12191924" y="2286000"/>
            <a:ext cx="5238598" cy="6086475"/>
          </a:xfrm>
          <a:custGeom>
            <a:avLst/>
            <a:gdLst/>
            <a:ahLst/>
            <a:cxnLst/>
            <a:rect r="r" b="b" t="t" l="l"/>
            <a:pathLst>
              <a:path h="6086475" w="5238598">
                <a:moveTo>
                  <a:pt x="0" y="0"/>
                </a:moveTo>
                <a:lnTo>
                  <a:pt x="5238597" y="0"/>
                </a:lnTo>
                <a:lnTo>
                  <a:pt x="5238597" y="6086475"/>
                </a:lnTo>
                <a:lnTo>
                  <a:pt x="0" y="6086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93" b="0"/>
            </a:stretch>
          </a:blipFill>
        </p:spPr>
      </p:sp>
      <p:sp>
        <p:nvSpPr>
          <p:cNvPr name="Freeform 5" id="5" descr="image.png"/>
          <p:cNvSpPr/>
          <p:nvPr/>
        </p:nvSpPr>
        <p:spPr>
          <a:xfrm flipH="false" flipV="false" rot="0">
            <a:off x="2276399" y="2786062"/>
            <a:ext cx="357188" cy="400050"/>
          </a:xfrm>
          <a:custGeom>
            <a:avLst/>
            <a:gdLst/>
            <a:ahLst/>
            <a:cxnLst/>
            <a:rect r="r" b="b" t="t" l="l"/>
            <a:pathLst>
              <a:path h="400050" w="357188">
                <a:moveTo>
                  <a:pt x="0" y="0"/>
                </a:moveTo>
                <a:lnTo>
                  <a:pt x="357187" y="0"/>
                </a:lnTo>
                <a:lnTo>
                  <a:pt x="357187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4000" b="0"/>
            </a:stretch>
          </a:blipFill>
        </p:spPr>
      </p:sp>
      <p:sp>
        <p:nvSpPr>
          <p:cNvPr name="Freeform 6" id="6" descr="image.png"/>
          <p:cNvSpPr/>
          <p:nvPr/>
        </p:nvSpPr>
        <p:spPr>
          <a:xfrm flipH="false" flipV="false" rot="0">
            <a:off x="7886481" y="2786062"/>
            <a:ext cx="400050" cy="400050"/>
          </a:xfrm>
          <a:custGeom>
            <a:avLst/>
            <a:gdLst/>
            <a:ahLst/>
            <a:cxnLst/>
            <a:rect r="r" b="b" t="t" l="l"/>
            <a:pathLst>
              <a:path h="400050" w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3571" b="0"/>
            </a:stretch>
          </a:blipFill>
        </p:spPr>
      </p:sp>
      <p:sp>
        <p:nvSpPr>
          <p:cNvPr name="Freeform 7" id="7" descr="image.png"/>
          <p:cNvSpPr/>
          <p:nvPr/>
        </p:nvSpPr>
        <p:spPr>
          <a:xfrm flipH="false" flipV="false" rot="0">
            <a:off x="13461054" y="2786062"/>
            <a:ext cx="400050" cy="400050"/>
          </a:xfrm>
          <a:custGeom>
            <a:avLst/>
            <a:gdLst/>
            <a:ahLst/>
            <a:cxnLst/>
            <a:rect r="r" b="b" t="t" l="l"/>
            <a:pathLst>
              <a:path h="400050" w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3571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57250" y="566775"/>
            <a:ext cx="17402175" cy="1100100"/>
            <a:chOff x="0" y="0"/>
            <a:chExt cx="23202900" cy="146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202900" cy="1466800"/>
            </a:xfrm>
            <a:custGeom>
              <a:avLst/>
              <a:gdLst/>
              <a:ahLst/>
              <a:cxnLst/>
              <a:rect r="r" b="b" t="t" l="l"/>
              <a:pathLst>
                <a:path h="14668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466800"/>
                  </a:lnTo>
                  <a:lnTo>
                    <a:pt x="0" y="1466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202900" cy="14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F3F6F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Conclusion &amp; Future Work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57250" y="8629650"/>
            <a:ext cx="16573500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20"/>
              </a:lnSpc>
              <a:spcBef>
                <a:spcPct val="0"/>
              </a:spcBef>
            </a:pPr>
            <a:r>
              <a:rPr lang="en-US" sz="2250" i="true" strike="noStrike" u="none">
                <a:solidFill>
                  <a:srgbClr val="F3F6FA"/>
                </a:solidFill>
                <a:latin typeface="Arimo Italics"/>
                <a:ea typeface="Arimo Italics"/>
                <a:cs typeface="Arimo Italics"/>
                <a:sym typeface="Arimo Italics"/>
              </a:rPr>
              <a:t>"These improvements could lead to a more accurate and clinically relevant skin analysis system."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66936" y="2709862"/>
            <a:ext cx="197921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29406" y="2721769"/>
            <a:ext cx="191224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Limitations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74631" y="2709862"/>
            <a:ext cx="4303719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Future Work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71662" y="3371850"/>
            <a:ext cx="3781273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Built full synthetic+real classifier pipeline.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71662" y="4409037"/>
            <a:ext cx="3781273" cy="929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Reached </a:t>
            </a:r>
            <a:r>
              <a:rPr lang="en-US" b="true" sz="2025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~54% Val</a:t>
            </a: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/ </a:t>
            </a:r>
            <a:r>
              <a:rPr lang="en-US" b="true" sz="2025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~88% Real Test</a:t>
            </a: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accuracy.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71662" y="5446214"/>
            <a:ext cx="3781273" cy="1377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Synthetic data is useful but highlights class overlap challenges.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38885" y="3371850"/>
            <a:ext cx="3781501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Separating mild conditions is difficult.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38885" y="4409037"/>
            <a:ext cx="3781501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Class imbalance impacts robustness.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38885" y="5446214"/>
            <a:ext cx="3781501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Single-label setup is a simplification of reality.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06336" y="3371850"/>
            <a:ext cx="3781273" cy="55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Expand expert-labeled datasets.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06336" y="3997595"/>
            <a:ext cx="3781273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Move to pixel-level segmentation.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06336" y="5034782"/>
            <a:ext cx="3781273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Use diffusion models for better realism.</a:t>
            </a:r>
          </a:p>
        </p:txBody>
      </p:sp>
      <p:sp>
        <p:nvSpPr>
          <p:cNvPr name="Freeform 24" id="24" descr="image.png"/>
          <p:cNvSpPr/>
          <p:nvPr/>
        </p:nvSpPr>
        <p:spPr>
          <a:xfrm flipH="false" flipV="false" rot="0">
            <a:off x="1443038" y="3571875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5" id="25" descr="image.png"/>
          <p:cNvSpPr/>
          <p:nvPr/>
        </p:nvSpPr>
        <p:spPr>
          <a:xfrm flipH="false" flipV="false" rot="0">
            <a:off x="1443038" y="4609062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6" id="26" descr="image.png"/>
          <p:cNvSpPr/>
          <p:nvPr/>
        </p:nvSpPr>
        <p:spPr>
          <a:xfrm flipH="false" flipV="false" rot="0">
            <a:off x="1443038" y="5646239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7" id="27" descr="image.png"/>
          <p:cNvSpPr/>
          <p:nvPr/>
        </p:nvSpPr>
        <p:spPr>
          <a:xfrm flipH="false" flipV="false" rot="0">
            <a:off x="7110260" y="3571875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8" id="28" descr="image.png"/>
          <p:cNvSpPr/>
          <p:nvPr/>
        </p:nvSpPr>
        <p:spPr>
          <a:xfrm flipH="false" flipV="false" rot="0">
            <a:off x="7110260" y="4609062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9" id="29" descr="image.png"/>
          <p:cNvSpPr/>
          <p:nvPr/>
        </p:nvSpPr>
        <p:spPr>
          <a:xfrm flipH="false" flipV="false" rot="0">
            <a:off x="7110260" y="5646239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0" id="30" descr="image.png"/>
          <p:cNvSpPr/>
          <p:nvPr/>
        </p:nvSpPr>
        <p:spPr>
          <a:xfrm flipH="false" flipV="false" rot="0">
            <a:off x="12777711" y="3571875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1" id="31" descr="image.png"/>
          <p:cNvSpPr/>
          <p:nvPr/>
        </p:nvSpPr>
        <p:spPr>
          <a:xfrm flipH="false" flipV="false" rot="0">
            <a:off x="12777711" y="4197620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2" id="32" descr="image.png"/>
          <p:cNvSpPr/>
          <p:nvPr/>
        </p:nvSpPr>
        <p:spPr>
          <a:xfrm flipH="false" flipV="false" rot="0">
            <a:off x="12777711" y="5234807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DAG-ymP16vI</dc:identifier>
  <dcterms:modified xsi:type="dcterms:W3CDTF">2011-08-01T06:04:30Z</dcterms:modified>
  <cp:revision>1</cp:revision>
  <dc:title>GlowAI Final Presentation.pptx</dc:title>
</cp:coreProperties>
</file>